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98" r:id="rId3"/>
    <p:sldId id="258" r:id="rId4"/>
    <p:sldId id="259" r:id="rId5"/>
    <p:sldId id="274" r:id="rId6"/>
    <p:sldId id="260" r:id="rId7"/>
    <p:sldId id="277" r:id="rId8"/>
    <p:sldId id="261" r:id="rId9"/>
    <p:sldId id="280" r:id="rId10"/>
    <p:sldId id="278" r:id="rId11"/>
    <p:sldId id="263" r:id="rId12"/>
    <p:sldId id="281" r:id="rId13"/>
    <p:sldId id="264" r:id="rId14"/>
    <p:sldId id="265" r:id="rId15"/>
    <p:sldId id="266" r:id="rId16"/>
    <p:sldId id="267" r:id="rId17"/>
    <p:sldId id="282" r:id="rId18"/>
    <p:sldId id="283" r:id="rId19"/>
    <p:sldId id="284" r:id="rId20"/>
    <p:sldId id="285" r:id="rId21"/>
    <p:sldId id="268" r:id="rId22"/>
    <p:sldId id="286" r:id="rId23"/>
    <p:sldId id="287" r:id="rId24"/>
    <p:sldId id="288" r:id="rId25"/>
    <p:sldId id="269" r:id="rId26"/>
    <p:sldId id="289" r:id="rId27"/>
    <p:sldId id="270" r:id="rId28"/>
    <p:sldId id="290" r:id="rId29"/>
    <p:sldId id="292" r:id="rId30"/>
    <p:sldId id="293" r:id="rId31"/>
    <p:sldId id="271" r:id="rId32"/>
    <p:sldId id="295" r:id="rId33"/>
    <p:sldId id="297" r:id="rId34"/>
    <p:sldId id="272" r:id="rId35"/>
    <p:sldId id="273" r:id="rId3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2EF6BD-24C2-4CAE-BCDB-6239E9FE8540}" v="139" dt="2025-11-11T23:22:50.81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956" autoAdjust="0"/>
  </p:normalViewPr>
  <p:slideViewPr>
    <p:cSldViewPr>
      <p:cViewPr>
        <p:scale>
          <a:sx n="66" d="100"/>
          <a:sy n="66" d="100"/>
        </p:scale>
        <p:origin x="644" y="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 Type="http://schemas.openxmlformats.org/officeDocument/2006/relationships/slide" Target="slides/slide2.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 Type="http://schemas.openxmlformats.org/officeDocument/2006/relationships/slide" Target="slides/slide3.xml"/><Relationship Id="rId40" Type="http://schemas.openxmlformats.org/officeDocument/2006/relationships/theme" Target="theme/theme1.xml"/><Relationship Id="rId41" Type="http://schemas.openxmlformats.org/officeDocument/2006/relationships/tableStyles" Target="tableStyles.xml"/><Relationship Id="rId42" Type="http://schemas.microsoft.com/office/2015/10/relationships/revisionInfo" Target="revisionInfo.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32F4E8AE-E4F5-42FC-B972-D0071B4515CE}" type="datetimeFigureOut">
              <a:rPr lang="en-IN" smtClean="0"/>
              <a:t>11-11-2025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5EF1E01A-047F-44A1-BF77-BD22F4733E44}" type="slidenum">
              <a:rPr lang="en-IN" smtClean="0"/>
              <a:t>‹#›</a:t>
            </a:fld>
            <a:endParaRPr lang="en-IN"/>
          </a:p>
        </p:txBody>
      </p:sp>
    </p:spTree>
    <p:extLst>
      <p:ext uri="{BB962C8B-B14F-4D97-AF65-F5344CB8AC3E}">
        <p14:creationId xmlns:p14="http://schemas.microsoft.com/office/powerpoint/2010/main" val="4007553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EF1E01A-047F-44A1-BF77-BD22F4733E44}" type="slidenum">
              <a:rPr lang="en-IN" smtClean="0"/>
              <a:t>11</a:t>
            </a:fld>
            <a:endParaRPr lang="en-IN"/>
          </a:p>
        </p:txBody>
      </p:sp>
    </p:spTree>
    <p:extLst>
      <p:ext uri="{BB962C8B-B14F-4D97-AF65-F5344CB8AC3E}">
        <p14:creationId xmlns:p14="http://schemas.microsoft.com/office/powerpoint/2010/main" val="1745616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6" name="Holder 6"/>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4" name="Holder 4"/>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3" name="Holder 3"/>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7150" y="38100"/>
            <a:ext cx="3667124" cy="504825"/>
          </a:xfrm>
          <a:prstGeom prst="rect">
            <a:avLst/>
          </a:prstGeom>
        </p:spPr>
      </p:pic>
      <p:sp>
        <p:nvSpPr>
          <p:cNvPr id="2" name="Holder 2"/>
          <p:cNvSpPr>
            <a:spLocks noGrp="1"/>
          </p:cNvSpPr>
          <p:nvPr>
            <p:ph type="title"/>
          </p:nvPr>
        </p:nvSpPr>
        <p:spPr>
          <a:xfrm>
            <a:off x="1045463" y="283463"/>
            <a:ext cx="10101072" cy="1200005"/>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17575" y="1730872"/>
            <a:ext cx="8149590" cy="3088004"/>
          </a:xfrm>
          <a:prstGeom prst="rect">
            <a:avLst/>
          </a:prstGeom>
        </p:spPr>
        <p:txBody>
          <a:bodyPr wrap="square" lIns="0" tIns="0" rIns="0" bIns="0">
            <a:spAutoFit/>
          </a:bodyPr>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5505148" y="6451049"/>
            <a:ext cx="644525"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5" name="Holder 5"/>
          <p:cNvSpPr>
            <a:spLocks noGrp="1"/>
          </p:cNvSpPr>
          <p:nvPr>
            <p:ph type="dt" sz="half" idx="6"/>
          </p:nvPr>
        </p:nvSpPr>
        <p:spPr>
          <a:xfrm>
            <a:off x="917575" y="6451049"/>
            <a:ext cx="737235"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6" name="Holder 6"/>
          <p:cNvSpPr>
            <a:spLocks noGrp="1"/>
          </p:cNvSpPr>
          <p:nvPr>
            <p:ph type="sldNum" sz="quarter" idx="7"/>
          </p:nvPr>
        </p:nvSpPr>
        <p:spPr>
          <a:xfrm>
            <a:off x="11104626" y="6451049"/>
            <a:ext cx="215900"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mdsakhib26@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62889" rIns="0" bIns="0" rtlCol="0">
            <a:spAutoFit/>
          </a:bodyPr>
          <a:lstStyle/>
          <a:p>
            <a:r>
              <a:rPr sz="2200"/>
              <a:t>1. INSTRUCTIONS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z="2200"/>
              <a:t>1. 19-12-2024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dirty="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z="2200"/>
              <a:t>1. Batch 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z="2200"/>
              <a:t>1. 1</a:t>
            </a:r>
            <a:endParaRPr spc="-25" dirty="0"/>
          </a:p>
        </p:txBody>
      </p:sp>
      <p:sp>
        <p:nvSpPr>
          <p:cNvPr id="3" name="object 3"/>
          <p:cNvSpPr txBox="1"/>
          <p:nvPr/>
        </p:nvSpPr>
        <p:spPr>
          <a:xfrm>
            <a:off x="917575" y="1722119"/>
            <a:ext cx="10134600" cy="4117340"/>
          </a:xfrm>
          <a:prstGeom prst="rect">
            <a:avLst/>
          </a:prstGeom>
        </p:spPr>
        <p:txBody>
          <a:bodyPr vert="horz" wrap="square" lIns="0" tIns="59690" rIns="0" bIns="0" rtlCol="0">
            <a:spAutoFit/>
          </a:bodyPr>
          <a:lstStyle/>
          <a:p>
            <a:pPr marL="241300" indent="-228600">
              <a:lnSpc>
                <a:spcPct val="100000"/>
              </a:lnSpc>
              <a:spcBef>
                <a:spcPts val="470"/>
              </a:spcBef>
              <a:buFont typeface="Arial"/>
              <a:buChar char="•"/>
              <a:tabLst>
                <a:tab pos="241300" algn="l"/>
              </a:tabLst>
            </a:pPr>
            <a:r>
              <a:rPr sz="2200"/>
              <a:t>1. Use Font size 22 to 28 and Font Style Times New Roman</a:t>
            </a:r>
            <a:endParaRPr sz="2750">
              <a:latin typeface="Times New Roman"/>
              <a:cs typeface="Times New Roman"/>
            </a:endParaRPr>
          </a:p>
          <a:p>
            <a:pPr marL="241300" indent="-228600">
              <a:lnSpc>
                <a:spcPct val="100000"/>
              </a:lnSpc>
              <a:spcBef>
                <a:spcPts val="380"/>
              </a:spcBef>
              <a:buFont typeface="Arial"/>
              <a:buChar char="•"/>
              <a:tabLst>
                <a:tab pos="241300" algn="l"/>
              </a:tabLst>
            </a:pPr>
            <a:r>
              <a:rPr sz="2200"/>
              <a:t>2. Do not change the Template: Heading / Title of the slides</a:t>
            </a:r>
            <a:endParaRPr sz="2750">
              <a:latin typeface="Times New Roman"/>
              <a:cs typeface="Times New Roman"/>
            </a:endParaRPr>
          </a:p>
          <a:p>
            <a:pPr marL="241300" indent="-228600">
              <a:lnSpc>
                <a:spcPct val="100000"/>
              </a:lnSpc>
              <a:spcBef>
                <a:spcPts val="380"/>
              </a:spcBef>
              <a:buFont typeface="Arial"/>
              <a:buChar char="•"/>
              <a:tabLst>
                <a:tab pos="241300" algn="l"/>
              </a:tabLst>
            </a:pPr>
            <a:r>
              <a:rPr sz="2200"/>
              <a:t>3. Do not change font style or colours</a:t>
            </a:r>
            <a:endParaRPr sz="2750">
              <a:latin typeface="Times New Roman"/>
              <a:cs typeface="Times New Roman"/>
            </a:endParaRPr>
          </a:p>
          <a:p>
            <a:pPr marL="241300" indent="-228600">
              <a:lnSpc>
                <a:spcPct val="100000"/>
              </a:lnSpc>
              <a:spcBef>
                <a:spcPts val="455"/>
              </a:spcBef>
              <a:buFont typeface="Arial"/>
              <a:buChar char="•"/>
              <a:tabLst>
                <a:tab pos="241300" algn="l"/>
              </a:tabLst>
            </a:pPr>
            <a:r>
              <a:rPr sz="2200"/>
              <a:t>4. Do not copy paste paragraphs: use only Bullet Points</a:t>
            </a:r>
            <a:endParaRPr sz="2750">
              <a:latin typeface="Times New Roman"/>
              <a:cs typeface="Times New Roman"/>
            </a:endParaRPr>
          </a:p>
          <a:p>
            <a:pPr marL="241300" indent="-228600">
              <a:lnSpc>
                <a:spcPct val="100000"/>
              </a:lnSpc>
              <a:spcBef>
                <a:spcPts val="380"/>
              </a:spcBef>
              <a:buFont typeface="Arial"/>
              <a:buChar char="•"/>
              <a:tabLst>
                <a:tab pos="241300" algn="l"/>
              </a:tabLst>
            </a:pPr>
            <a:r>
              <a:rPr sz="2200"/>
              <a:t>5. Maximum slide Limit is 30 only</a:t>
            </a:r>
            <a:endParaRPr sz="2750">
              <a:latin typeface="Times New Roman"/>
              <a:cs typeface="Times New Roman"/>
            </a:endParaRPr>
          </a:p>
          <a:p>
            <a:pPr marL="241300" indent="-228600">
              <a:lnSpc>
                <a:spcPct val="100000"/>
              </a:lnSpc>
              <a:spcBef>
                <a:spcPts val="380"/>
              </a:spcBef>
              <a:buFont typeface="Arial"/>
              <a:buChar char="•"/>
              <a:tabLst>
                <a:tab pos="241300" algn="l"/>
              </a:tabLst>
            </a:pPr>
            <a:r>
              <a:rPr sz="2200"/>
              <a:t>6. Please display the required meaningful Content or images or tables</a:t>
            </a:r>
            <a:endParaRPr sz="2750">
              <a:latin typeface="Times New Roman"/>
              <a:cs typeface="Times New Roman"/>
            </a:endParaRPr>
          </a:p>
          <a:p>
            <a:pPr marL="240029" marR="5080" indent="-227965">
              <a:lnSpc>
                <a:spcPts val="2700"/>
              </a:lnSpc>
              <a:spcBef>
                <a:spcPts val="975"/>
              </a:spcBef>
              <a:buFont typeface="Arial"/>
              <a:buChar char="•"/>
              <a:tabLst>
                <a:tab pos="241300" algn="l"/>
              </a:tabLst>
            </a:pPr>
            <a:r>
              <a:rPr sz="2200"/>
              <a:t>7. Change the footer accordingly using insert tab then click on header &amp; 	footer tab and edit it</a:t>
            </a:r>
            <a:endParaRPr sz="2750">
              <a:latin typeface="Times New Roman"/>
              <a:cs typeface="Times New Roman"/>
            </a:endParaRPr>
          </a:p>
          <a:p>
            <a:pPr marL="241300" indent="-228600">
              <a:lnSpc>
                <a:spcPct val="100000"/>
              </a:lnSpc>
              <a:spcBef>
                <a:spcPts val="390"/>
              </a:spcBef>
              <a:buFont typeface="Arial"/>
              <a:buChar char="•"/>
              <a:tabLst>
                <a:tab pos="241300" algn="l"/>
                <a:tab pos="4572000" algn="l"/>
              </a:tabLst>
            </a:pPr>
            <a:r>
              <a:rPr sz="2200"/>
              <a:t>8. Save the PPT with Batch No,	ex: 21_CSE _A1</a:t>
            </a:r>
            <a:endParaRPr sz="275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0A20B-C8A3-3C78-0275-EED6A4FEDA22}"/>
              </a:ext>
            </a:extLst>
          </p:cNvPr>
          <p:cNvSpPr>
            <a:spLocks noGrp="1"/>
          </p:cNvSpPr>
          <p:nvPr>
            <p:ph type="title"/>
          </p:nvPr>
        </p:nvSpPr>
        <p:spPr>
          <a:xfrm>
            <a:off x="917575" y="533400"/>
            <a:ext cx="10969625" cy="1066800"/>
          </a:xfrm>
        </p:spPr>
        <p:txBody>
          <a:bodyPr/>
          <a:lstStyle/>
          <a:p>
            <a:r>
              <a:rPr sz="2200"/>
              <a:t>2.                                                 Department of Computer Science and Engineering</a:t>
            </a:r>
            <a:br/>
            <a:r>
              <a:rPr sz="2200"/>
              <a:t>Climate-Smart Cotton Yield Prediction: A Comparative Study of Random Forest</a:t>
            </a:r>
            <a:br/>
            <a:r>
              <a:rPr sz="2200"/>
              <a:t>                                                  and LightGBM</a:t>
            </a:r>
            <a:br/>
            <a:br/>
            <a:r>
              <a:rPr sz="2200"/>
              <a:t> </a:t>
            </a:r>
          </a:p>
        </p:txBody>
      </p:sp>
      <p:sp>
        <p:nvSpPr>
          <p:cNvPr id="3" name="Text Placeholder 2">
            <a:extLst>
              <a:ext uri="{FF2B5EF4-FFF2-40B4-BE49-F238E27FC236}">
                <a16:creationId xmlns:a16="http://schemas.microsoft.com/office/drawing/2014/main" id="{F5C4C0F4-9E41-6DA0-F6C5-30341A504D9C}"/>
              </a:ext>
            </a:extLst>
          </p:cNvPr>
          <p:cNvSpPr>
            <a:spLocks noGrp="1"/>
          </p:cNvSpPr>
          <p:nvPr>
            <p:ph type="body" idx="1"/>
          </p:nvPr>
        </p:nvSpPr>
        <p:spPr>
          <a:xfrm>
            <a:off x="917574" y="1730872"/>
            <a:ext cx="10817225" cy="854080"/>
          </a:xfrm>
        </p:spPr>
        <p:txBody>
          <a:bodyPr/>
          <a:lstStyle/>
          <a:p>
            <a:endParaRPr lang="en-IN" sz="2800" dirty="0"/>
          </a:p>
          <a:p>
            <a:endParaRPr lang="en-IN" dirty="0"/>
          </a:p>
        </p:txBody>
      </p:sp>
      <p:sp>
        <p:nvSpPr>
          <p:cNvPr id="4" name="object 4">
            <a:extLst>
              <a:ext uri="{FF2B5EF4-FFF2-40B4-BE49-F238E27FC236}">
                <a16:creationId xmlns:a16="http://schemas.microsoft.com/office/drawing/2014/main" id="{5D917B7D-073E-B11B-6EB1-C1DBAE216CCA}"/>
              </a:ext>
            </a:extLst>
          </p:cNvPr>
          <p:cNvSpPr txBox="1"/>
          <p:nvPr/>
        </p:nvSpPr>
        <p:spPr>
          <a:xfrm>
            <a:off x="5704840" y="1946592"/>
            <a:ext cx="1503045" cy="266065"/>
          </a:xfrm>
          <a:prstGeom prst="rect">
            <a:avLst/>
          </a:prstGeom>
        </p:spPr>
        <p:txBody>
          <a:bodyPr vert="horz" wrap="square" lIns="0" tIns="15875" rIns="0" bIns="0" rtlCol="0">
            <a:spAutoFit/>
          </a:bodyPr>
          <a:lstStyle/>
          <a:p>
            <a:pPr marL="12700">
              <a:lnSpc>
                <a:spcPct val="100000"/>
              </a:lnSpc>
              <a:spcBef>
                <a:spcPts val="125"/>
              </a:spcBef>
            </a:pPr>
            <a:r>
              <a:rPr sz="2200"/>
              <a:t>1. PRESENTED BY</a:t>
            </a:r>
            <a:endParaRPr sz="1550" dirty="0">
              <a:latin typeface="Times New Roman"/>
              <a:cs typeface="Times New Roman"/>
            </a:endParaRPr>
          </a:p>
        </p:txBody>
      </p:sp>
      <p:sp>
        <p:nvSpPr>
          <p:cNvPr id="5" name="object 5">
            <a:extLst>
              <a:ext uri="{FF2B5EF4-FFF2-40B4-BE49-F238E27FC236}">
                <a16:creationId xmlns:a16="http://schemas.microsoft.com/office/drawing/2014/main" id="{B1A28E5E-939C-C32A-6D13-C1C7912DDB46}"/>
              </a:ext>
            </a:extLst>
          </p:cNvPr>
          <p:cNvSpPr txBox="1"/>
          <p:nvPr/>
        </p:nvSpPr>
        <p:spPr>
          <a:xfrm>
            <a:off x="4044781" y="2275096"/>
            <a:ext cx="1984041" cy="983026"/>
          </a:xfrm>
          <a:prstGeom prst="rect">
            <a:avLst/>
          </a:prstGeom>
        </p:spPr>
        <p:txBody>
          <a:bodyPr vert="horz" wrap="square" lIns="0" tIns="12065" rIns="0" bIns="0" rtlCol="0">
            <a:spAutoFit/>
          </a:bodyPr>
          <a:lstStyle/>
          <a:p>
            <a:pPr marL="12700" marR="5080" algn="just">
              <a:lnSpc>
                <a:spcPct val="137300"/>
              </a:lnSpc>
              <a:spcBef>
                <a:spcPts val="95"/>
              </a:spcBef>
            </a:pPr>
            <a:r>
              <a:rPr sz="2200"/>
              <a:t>1.  S. Md. Sakhib</a:t>
            </a:r>
            <a:endParaRPr lang="en-IN" sz="1550" spc="-10" dirty="0">
              <a:latin typeface="Times New Roman"/>
              <a:cs typeface="Times New Roman"/>
            </a:endParaRPr>
          </a:p>
          <a:p>
            <a:pPr marL="12700" marR="5080" algn="just">
              <a:lnSpc>
                <a:spcPct val="137300"/>
              </a:lnSpc>
              <a:spcBef>
                <a:spcPts val="95"/>
              </a:spcBef>
            </a:pPr>
            <a:r>
              <a:rPr sz="2200"/>
              <a:t>2. G. V. Ganesh</a:t>
            </a:r>
          </a:p>
          <a:p>
            <a:pPr marL="12700" marR="5080" algn="just">
              <a:lnSpc>
                <a:spcPct val="137300"/>
              </a:lnSpc>
              <a:spcBef>
                <a:spcPts val="95"/>
              </a:spcBef>
            </a:pPr>
            <a:r>
              <a:rPr sz="2200"/>
              <a:t>3. D.C.V.S Nagi Reddy </a:t>
            </a:r>
            <a:endParaRPr sz="1550" dirty="0">
              <a:latin typeface="Times New Roman"/>
              <a:cs typeface="Times New Roman"/>
            </a:endParaRPr>
          </a:p>
        </p:txBody>
      </p:sp>
      <p:sp>
        <p:nvSpPr>
          <p:cNvPr id="6" name="object 6">
            <a:extLst>
              <a:ext uri="{FF2B5EF4-FFF2-40B4-BE49-F238E27FC236}">
                <a16:creationId xmlns:a16="http://schemas.microsoft.com/office/drawing/2014/main" id="{2A1CC2C5-E691-0D9C-6D50-722BDABF1A2B}"/>
              </a:ext>
            </a:extLst>
          </p:cNvPr>
          <p:cNvSpPr txBox="1"/>
          <p:nvPr/>
        </p:nvSpPr>
        <p:spPr>
          <a:xfrm>
            <a:off x="7452359" y="2186876"/>
            <a:ext cx="1310641" cy="995785"/>
          </a:xfrm>
          <a:prstGeom prst="rect">
            <a:avLst/>
          </a:prstGeom>
        </p:spPr>
        <p:txBody>
          <a:bodyPr vert="horz" wrap="square" lIns="0" tIns="99695" rIns="0" bIns="0" rtlCol="0">
            <a:spAutoFit/>
          </a:bodyPr>
          <a:lstStyle/>
          <a:p>
            <a:pPr marL="12700">
              <a:lnSpc>
                <a:spcPct val="100000"/>
              </a:lnSpc>
              <a:spcBef>
                <a:spcPts val="785"/>
              </a:spcBef>
            </a:pPr>
            <a:r>
              <a:rPr sz="2200"/>
              <a:t>1. (22471A0539)</a:t>
            </a:r>
            <a:endParaRPr sz="1550" dirty="0">
              <a:latin typeface="Times New Roman"/>
              <a:cs typeface="Times New Roman"/>
            </a:endParaRPr>
          </a:p>
          <a:p>
            <a:pPr marL="12700">
              <a:lnSpc>
                <a:spcPct val="100000"/>
              </a:lnSpc>
              <a:spcBef>
                <a:spcPts val="695"/>
              </a:spcBef>
            </a:pPr>
            <a:r>
              <a:rPr sz="2200"/>
              <a:t>2. (22471A0525)</a:t>
            </a:r>
            <a:endParaRPr sz="1550" dirty="0">
              <a:latin typeface="Times New Roman"/>
              <a:cs typeface="Times New Roman"/>
            </a:endParaRPr>
          </a:p>
          <a:p>
            <a:pPr marL="12700">
              <a:lnSpc>
                <a:spcPct val="100000"/>
              </a:lnSpc>
              <a:spcBef>
                <a:spcPts val="695"/>
              </a:spcBef>
            </a:pPr>
            <a:r>
              <a:rPr sz="2200"/>
              <a:t>3. (22471A0516)</a:t>
            </a:r>
            <a:endParaRPr sz="1550" dirty="0">
              <a:latin typeface="Times New Roman"/>
              <a:cs typeface="Times New Roman"/>
            </a:endParaRPr>
          </a:p>
        </p:txBody>
      </p:sp>
      <p:sp>
        <p:nvSpPr>
          <p:cNvPr id="7" name="object 7">
            <a:extLst>
              <a:ext uri="{FF2B5EF4-FFF2-40B4-BE49-F238E27FC236}">
                <a16:creationId xmlns:a16="http://schemas.microsoft.com/office/drawing/2014/main" id="{E4A15833-6585-40E0-E1FE-DE1704830B0F}"/>
              </a:ext>
            </a:extLst>
          </p:cNvPr>
          <p:cNvSpPr txBox="1"/>
          <p:nvPr/>
        </p:nvSpPr>
        <p:spPr>
          <a:xfrm>
            <a:off x="4064634" y="3599878"/>
            <a:ext cx="4304665" cy="2249805"/>
          </a:xfrm>
          <a:prstGeom prst="rect">
            <a:avLst/>
          </a:prstGeom>
        </p:spPr>
        <p:txBody>
          <a:bodyPr vert="horz" wrap="square" lIns="0" tIns="12700" rIns="0" bIns="0" rtlCol="0">
            <a:spAutoFit/>
          </a:bodyPr>
          <a:lstStyle/>
          <a:p>
            <a:pPr algn="ctr">
              <a:lnSpc>
                <a:spcPct val="100000"/>
              </a:lnSpc>
              <a:spcBef>
                <a:spcPts val="100"/>
              </a:spcBef>
            </a:pPr>
            <a:r>
              <a:rPr sz="2200"/>
              <a:t>1. Under the Guidance of,</a:t>
            </a:r>
            <a:endParaRPr sz="1800" dirty="0">
              <a:latin typeface="Times New Roman"/>
              <a:cs typeface="Times New Roman"/>
            </a:endParaRPr>
          </a:p>
          <a:p>
            <a:pPr algn="ctr">
              <a:lnSpc>
                <a:spcPct val="100000"/>
              </a:lnSpc>
              <a:spcBef>
                <a:spcPts val="1770"/>
              </a:spcBef>
            </a:pPr>
            <a:r>
              <a:rPr sz="2200"/>
              <a:t>2. D. Venkata Reddy M. Tech</a:t>
            </a:r>
            <a:endParaRPr sz="1550" dirty="0">
              <a:latin typeface="Times New Roman"/>
              <a:cs typeface="Times New Roman"/>
            </a:endParaRPr>
          </a:p>
          <a:p>
            <a:pPr algn="ctr">
              <a:lnSpc>
                <a:spcPct val="100000"/>
              </a:lnSpc>
              <a:spcBef>
                <a:spcPts val="470"/>
              </a:spcBef>
            </a:pPr>
            <a:r>
              <a:rPr sz="2200"/>
              <a:t>3. Assistant Professor,</a:t>
            </a:r>
            <a:endParaRPr sz="1550" dirty="0">
              <a:latin typeface="Times New Roman"/>
              <a:cs typeface="Times New Roman"/>
            </a:endParaRPr>
          </a:p>
          <a:p>
            <a:pPr algn="ctr">
              <a:lnSpc>
                <a:spcPct val="100000"/>
              </a:lnSpc>
              <a:spcBef>
                <a:spcPts val="995"/>
              </a:spcBef>
            </a:pPr>
            <a:r>
              <a:rPr sz="2200"/>
              <a:t>4. Department of Computer Science and Engineering,</a:t>
            </a:r>
            <a:endParaRPr sz="1550" dirty="0">
              <a:latin typeface="Times New Roman"/>
              <a:cs typeface="Times New Roman"/>
            </a:endParaRPr>
          </a:p>
          <a:p>
            <a:pPr marL="57785" marR="61594" algn="ctr">
              <a:lnSpc>
                <a:spcPct val="173700"/>
              </a:lnSpc>
              <a:spcBef>
                <a:spcPts val="70"/>
              </a:spcBef>
            </a:pPr>
            <a:r>
              <a:rPr sz="2200"/>
              <a:t>5. Narasaraopeta Engineering College (Autonomous), Narasaraopet- 522 601.</a:t>
            </a:r>
            <a:endParaRPr sz="1550" dirty="0">
              <a:latin typeface="Times New Roman"/>
              <a:cs typeface="Times New Roman"/>
            </a:endParaRPr>
          </a:p>
        </p:txBody>
      </p:sp>
      <p:sp>
        <p:nvSpPr>
          <p:cNvPr id="8" name="object 9">
            <a:extLst>
              <a:ext uri="{FF2B5EF4-FFF2-40B4-BE49-F238E27FC236}">
                <a16:creationId xmlns:a16="http://schemas.microsoft.com/office/drawing/2014/main" id="{5A620A00-F48D-2FF4-A03D-4AD947F6C34F}"/>
              </a:ext>
            </a:extLst>
          </p:cNvPr>
          <p:cNvSpPr txBox="1">
            <a:spLocks noGrp="1"/>
          </p:cNvSpPr>
          <p:nvPr>
            <p:ph type="dt" sz="half" idx="6"/>
          </p:nvPr>
        </p:nvSpPr>
        <p:spPr>
          <a:xfrm>
            <a:off x="917575" y="6451049"/>
            <a:ext cx="737235" cy="194309"/>
          </a:xfrm>
          <a:prstGeom prst="rect">
            <a:avLst/>
          </a:prstGeom>
        </p:spPr>
        <p:txBody>
          <a:bodyPr vert="horz" wrap="square" lIns="0" tIns="0" rIns="0" bIns="0" rtlCol="0">
            <a:spAutoFit/>
          </a:bodyPr>
          <a:lstStyle/>
          <a:p>
            <a:pPr marL="12700">
              <a:lnSpc>
                <a:spcPts val="1410"/>
              </a:lnSpc>
            </a:pPr>
            <a:r>
              <a:rPr sz="2200"/>
              <a:t>1. 19-12-2024</a:t>
            </a:r>
          </a:p>
        </p:txBody>
      </p:sp>
      <p:sp>
        <p:nvSpPr>
          <p:cNvPr id="9" name="object 10">
            <a:extLst>
              <a:ext uri="{FF2B5EF4-FFF2-40B4-BE49-F238E27FC236}">
                <a16:creationId xmlns:a16="http://schemas.microsoft.com/office/drawing/2014/main" id="{A0C855B5-5A38-7DC5-7B15-EA7CF6191B55}"/>
              </a:ext>
            </a:extLst>
          </p:cNvPr>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a:latin typeface="Times New Roman"/>
              <a:cs typeface="Times New Roman"/>
            </a:endParaRPr>
          </a:p>
        </p:txBody>
      </p:sp>
      <p:sp>
        <p:nvSpPr>
          <p:cNvPr id="10" name="object 11">
            <a:extLst>
              <a:ext uri="{FF2B5EF4-FFF2-40B4-BE49-F238E27FC236}">
                <a16:creationId xmlns:a16="http://schemas.microsoft.com/office/drawing/2014/main" id="{5170A62F-152F-7C4F-A529-75719038FB5B}"/>
              </a:ext>
            </a:extLst>
          </p:cNvPr>
          <p:cNvSpPr txBox="1">
            <a:spLocks noGrp="1"/>
          </p:cNvSpPr>
          <p:nvPr>
            <p:ph type="ftr" sz="quarter" idx="5"/>
          </p:nvPr>
        </p:nvSpPr>
        <p:spPr>
          <a:xfrm>
            <a:off x="5505148" y="6451049"/>
            <a:ext cx="644525" cy="194309"/>
          </a:xfrm>
          <a:prstGeom prst="rect">
            <a:avLst/>
          </a:prstGeom>
        </p:spPr>
        <p:txBody>
          <a:bodyPr vert="horz" wrap="square" lIns="0" tIns="0" rIns="0" bIns="0" rtlCol="0">
            <a:spAutoFit/>
          </a:bodyPr>
          <a:lstStyle/>
          <a:p>
            <a:pPr marL="12700">
              <a:lnSpc>
                <a:spcPts val="1410"/>
              </a:lnSpc>
            </a:pPr>
            <a:r>
              <a:rPr sz="2200"/>
              <a:t>1. Batch No.</a:t>
            </a:r>
          </a:p>
        </p:txBody>
      </p:sp>
      <p:sp>
        <p:nvSpPr>
          <p:cNvPr id="11" name="object 12">
            <a:extLst>
              <a:ext uri="{FF2B5EF4-FFF2-40B4-BE49-F238E27FC236}">
                <a16:creationId xmlns:a16="http://schemas.microsoft.com/office/drawing/2014/main" id="{4301EAC5-C75B-53A2-8867-EE748B878934}"/>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Tree>
    <p:extLst>
      <p:ext uri="{BB962C8B-B14F-4D97-AF65-F5344CB8AC3E}">
        <p14:creationId xmlns:p14="http://schemas.microsoft.com/office/powerpoint/2010/main" val="4240591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969255" y="529843"/>
            <a:ext cx="2613025" cy="701040"/>
          </a:xfrm>
          <a:prstGeom prst="rect">
            <a:avLst/>
          </a:prstGeom>
        </p:spPr>
        <p:txBody>
          <a:bodyPr vert="horz" wrap="square" lIns="0" tIns="16510" rIns="0" bIns="0" rtlCol="0">
            <a:spAutoFit/>
          </a:bodyPr>
          <a:lstStyle/>
          <a:p>
            <a:r>
              <a:rPr sz="2200"/>
              <a:t>3. OUTLINE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z="2200"/>
              <a:t>1. 19-12-2024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z="2200"/>
              <a:t>1. Batch 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z="2200"/>
              <a:t>1. 3</a:t>
            </a:r>
            <a:endParaRPr spc="-25" dirty="0"/>
          </a:p>
        </p:txBody>
      </p:sp>
      <p:sp>
        <p:nvSpPr>
          <p:cNvPr id="3" name="object 3"/>
          <p:cNvSpPr txBox="1"/>
          <p:nvPr/>
        </p:nvSpPr>
        <p:spPr>
          <a:xfrm>
            <a:off x="917575" y="1173924"/>
            <a:ext cx="3450590" cy="4508500"/>
          </a:xfrm>
          <a:prstGeom prst="rect">
            <a:avLst/>
          </a:prstGeom>
        </p:spPr>
        <p:txBody>
          <a:bodyPr vert="horz" wrap="square" lIns="0" tIns="62230" rIns="0" bIns="0" rtlCol="0">
            <a:spAutoFit/>
          </a:bodyPr>
          <a:lstStyle/>
          <a:p>
            <a:pPr marL="527050" indent="-514350">
              <a:lnSpc>
                <a:spcPct val="100000"/>
              </a:lnSpc>
              <a:spcBef>
                <a:spcPts val="490"/>
              </a:spcBef>
              <a:buAutoNum type="arabicPeriod"/>
              <a:tabLst>
                <a:tab pos="527050" algn="l"/>
              </a:tabLst>
            </a:pPr>
            <a:r>
              <a:rPr sz="2200"/>
              <a:t>1. Abstract</a:t>
            </a:r>
            <a:endParaRPr sz="1800">
              <a:latin typeface="Times New Roman"/>
              <a:cs typeface="Times New Roman"/>
            </a:endParaRPr>
          </a:p>
          <a:p>
            <a:pPr marL="527050" indent="-514350">
              <a:lnSpc>
                <a:spcPct val="100000"/>
              </a:lnSpc>
              <a:spcBef>
                <a:spcPts val="390"/>
              </a:spcBef>
              <a:buAutoNum type="arabicPeriod"/>
              <a:tabLst>
                <a:tab pos="527050" algn="l"/>
              </a:tabLst>
            </a:pPr>
            <a:r>
              <a:rPr sz="2200"/>
              <a:t>2. Introduction</a:t>
            </a:r>
            <a:endParaRPr sz="1800">
              <a:latin typeface="Times New Roman"/>
              <a:cs typeface="Times New Roman"/>
            </a:endParaRPr>
          </a:p>
          <a:p>
            <a:pPr marL="527050" indent="-514350">
              <a:lnSpc>
                <a:spcPct val="100000"/>
              </a:lnSpc>
              <a:spcBef>
                <a:spcPts val="320"/>
              </a:spcBef>
              <a:buAutoNum type="arabicPeriod"/>
              <a:tabLst>
                <a:tab pos="527050" algn="l"/>
              </a:tabLst>
            </a:pPr>
            <a:r>
              <a:rPr sz="2200"/>
              <a:t>3. Literature Survey</a:t>
            </a:r>
            <a:endParaRPr sz="1800">
              <a:latin typeface="Times New Roman"/>
              <a:cs typeface="Times New Roman"/>
            </a:endParaRPr>
          </a:p>
          <a:p>
            <a:pPr marL="527050" indent="-514350">
              <a:lnSpc>
                <a:spcPct val="100000"/>
              </a:lnSpc>
              <a:spcBef>
                <a:spcPts val="395"/>
              </a:spcBef>
              <a:buAutoNum type="arabicPeriod"/>
              <a:tabLst>
                <a:tab pos="527050" algn="l"/>
              </a:tabLst>
            </a:pPr>
            <a:r>
              <a:rPr sz="2200"/>
              <a:t>4. Research Gaps</a:t>
            </a:r>
            <a:endParaRPr sz="1800">
              <a:latin typeface="Times New Roman"/>
              <a:cs typeface="Times New Roman"/>
            </a:endParaRPr>
          </a:p>
          <a:p>
            <a:pPr marL="527050" indent="-514350">
              <a:lnSpc>
                <a:spcPct val="100000"/>
              </a:lnSpc>
              <a:spcBef>
                <a:spcPts val="320"/>
              </a:spcBef>
              <a:buAutoNum type="arabicPeriod"/>
              <a:tabLst>
                <a:tab pos="527050" algn="l"/>
              </a:tabLst>
            </a:pPr>
            <a:r>
              <a:rPr sz="2200"/>
              <a:t>5. Problem Statement</a:t>
            </a:r>
            <a:endParaRPr sz="1800">
              <a:latin typeface="Times New Roman"/>
              <a:cs typeface="Times New Roman"/>
            </a:endParaRPr>
          </a:p>
          <a:p>
            <a:pPr marL="527050" indent="-514350">
              <a:lnSpc>
                <a:spcPct val="100000"/>
              </a:lnSpc>
              <a:spcBef>
                <a:spcPts val="390"/>
              </a:spcBef>
              <a:buAutoNum type="arabicPeriod"/>
              <a:tabLst>
                <a:tab pos="527050" algn="l"/>
              </a:tabLst>
            </a:pPr>
            <a:r>
              <a:rPr sz="2200"/>
              <a:t>6. Objectives</a:t>
            </a:r>
            <a:endParaRPr sz="1800">
              <a:latin typeface="Times New Roman"/>
              <a:cs typeface="Times New Roman"/>
            </a:endParaRPr>
          </a:p>
          <a:p>
            <a:pPr marL="527050" indent="-514350">
              <a:lnSpc>
                <a:spcPct val="100000"/>
              </a:lnSpc>
              <a:spcBef>
                <a:spcPts val="320"/>
              </a:spcBef>
              <a:buAutoNum type="arabicPeriod"/>
              <a:tabLst>
                <a:tab pos="527050" algn="l"/>
              </a:tabLst>
            </a:pPr>
            <a:r>
              <a:rPr sz="2200"/>
              <a:t>7. Block Diagram / Flow Diagram</a:t>
            </a:r>
            <a:endParaRPr sz="1800">
              <a:latin typeface="Times New Roman"/>
              <a:cs typeface="Times New Roman"/>
            </a:endParaRPr>
          </a:p>
          <a:p>
            <a:pPr marL="527050" indent="-514350">
              <a:lnSpc>
                <a:spcPct val="100000"/>
              </a:lnSpc>
              <a:spcBef>
                <a:spcPts val="390"/>
              </a:spcBef>
              <a:buAutoNum type="arabicPeriod"/>
              <a:tabLst>
                <a:tab pos="527050" algn="l"/>
              </a:tabLst>
            </a:pPr>
            <a:r>
              <a:rPr sz="2200"/>
              <a:t>8. Methodology</a:t>
            </a:r>
            <a:endParaRPr sz="1800">
              <a:latin typeface="Times New Roman"/>
              <a:cs typeface="Times New Roman"/>
            </a:endParaRPr>
          </a:p>
          <a:p>
            <a:pPr marL="527050" indent="-514350">
              <a:lnSpc>
                <a:spcPct val="100000"/>
              </a:lnSpc>
              <a:spcBef>
                <a:spcPts val="320"/>
              </a:spcBef>
              <a:buAutoNum type="arabicPeriod"/>
              <a:tabLst>
                <a:tab pos="527050" algn="l"/>
              </a:tabLst>
            </a:pPr>
            <a:r>
              <a:rPr sz="2200"/>
              <a:t>9. Implementation</a:t>
            </a:r>
            <a:endParaRPr sz="1800">
              <a:latin typeface="Times New Roman"/>
              <a:cs typeface="Times New Roman"/>
            </a:endParaRPr>
          </a:p>
          <a:p>
            <a:pPr marL="527050" indent="-514350">
              <a:lnSpc>
                <a:spcPct val="100000"/>
              </a:lnSpc>
              <a:spcBef>
                <a:spcPts val="395"/>
              </a:spcBef>
              <a:buAutoNum type="arabicPeriod"/>
              <a:tabLst>
                <a:tab pos="527050" algn="l"/>
              </a:tabLst>
            </a:pPr>
            <a:r>
              <a:rPr sz="2200"/>
              <a:t>10. Results and Analysis</a:t>
            </a:r>
            <a:endParaRPr sz="1800">
              <a:latin typeface="Times New Roman"/>
              <a:cs typeface="Times New Roman"/>
            </a:endParaRPr>
          </a:p>
          <a:p>
            <a:pPr marL="527050" indent="-514350">
              <a:lnSpc>
                <a:spcPct val="100000"/>
              </a:lnSpc>
              <a:spcBef>
                <a:spcPts val="315"/>
              </a:spcBef>
              <a:buAutoNum type="arabicPeriod"/>
              <a:tabLst>
                <a:tab pos="527050" algn="l"/>
              </a:tabLst>
            </a:pPr>
            <a:r>
              <a:rPr sz="2200"/>
              <a:t>11. Conclusion &amp; Future Scope</a:t>
            </a:r>
            <a:endParaRPr sz="1800">
              <a:latin typeface="Times New Roman"/>
              <a:cs typeface="Times New Roman"/>
            </a:endParaRPr>
          </a:p>
          <a:p>
            <a:pPr marL="527050" indent="-514350">
              <a:lnSpc>
                <a:spcPct val="100000"/>
              </a:lnSpc>
              <a:spcBef>
                <a:spcPts val="400"/>
              </a:spcBef>
              <a:buAutoNum type="arabicPeriod"/>
              <a:tabLst>
                <a:tab pos="527050" algn="l"/>
              </a:tabLst>
            </a:pPr>
            <a:r>
              <a:rPr sz="2200"/>
              <a:t>12. References</a:t>
            </a:r>
            <a:endParaRPr sz="1800">
              <a:latin typeface="Times New Roman"/>
              <a:cs typeface="Times New Roman"/>
            </a:endParaRPr>
          </a:p>
          <a:p>
            <a:pPr marL="527050" indent="-514350">
              <a:lnSpc>
                <a:spcPct val="100000"/>
              </a:lnSpc>
              <a:spcBef>
                <a:spcPts val="315"/>
              </a:spcBef>
              <a:buAutoNum type="arabicPeriod"/>
              <a:tabLst>
                <a:tab pos="527050" algn="l"/>
              </a:tabLst>
            </a:pPr>
            <a:r>
              <a:rPr sz="2200"/>
              <a:t>13. Question and Answers</a:t>
            </a:r>
            <a:endParaRPr sz="1800">
              <a:latin typeface="Times New Roman"/>
              <a:cs typeface="Times New Roman"/>
            </a:endParaRPr>
          </a:p>
          <a:p>
            <a:pPr marL="527050" indent="-514350">
              <a:lnSpc>
                <a:spcPct val="100000"/>
              </a:lnSpc>
              <a:spcBef>
                <a:spcPts val="395"/>
              </a:spcBef>
              <a:buAutoNum type="arabicPeriod"/>
              <a:tabLst>
                <a:tab pos="527050" algn="l"/>
              </a:tabLst>
            </a:pPr>
            <a:r>
              <a:rPr sz="2200"/>
              <a:t>14. Acknowledgements</a:t>
            </a:r>
            <a:endParaRPr sz="180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62889" rIns="0" bIns="0" rtlCol="0">
            <a:spAutoFit/>
          </a:bodyPr>
          <a:lstStyle/>
          <a:p>
            <a:r>
              <a:rPr sz="2200"/>
              <a:t>4. ABSTRACT</a:t>
            </a:r>
          </a:p>
        </p:txBody>
      </p:sp>
      <p:sp>
        <p:nvSpPr>
          <p:cNvPr id="9" name="Text Placeholder 8">
            <a:extLst>
              <a:ext uri="{FF2B5EF4-FFF2-40B4-BE49-F238E27FC236}">
                <a16:creationId xmlns:a16="http://schemas.microsoft.com/office/drawing/2014/main" id="{1C99407F-C430-817C-6CD8-D57F9E79C47C}"/>
              </a:ext>
            </a:extLst>
          </p:cNvPr>
          <p:cNvSpPr>
            <a:spLocks noGrp="1"/>
          </p:cNvSpPr>
          <p:nvPr>
            <p:ph type="body" idx="1"/>
          </p:nvPr>
        </p:nvSpPr>
        <p:spPr>
          <a:xfrm>
            <a:off x="741060" y="1371600"/>
            <a:ext cx="10817225" cy="4876800"/>
          </a:xfrm>
        </p:spPr>
        <p:txBody>
          <a:bodyPr/>
          <a:lstStyle/>
          <a:p>
            <a:pPr algn="just"/>
            <a:r>
              <a:rPr sz="2200"/>
              <a:t>1. This study centers on the development and evaluation of advanced machine learning models for precise prediction of cotton yield across major producing regions in the southern United States. Recognizing the urgent need for tools that support climate-smart agriculture, the research leverages the latest advancements in ensemble learning to handle climatic and management variables affecting cotton yield. The study incorporates both recent and synthetic historical data, ensuring robustness and accuracy in diverse agro-ecological zones. Key variables considered include accumulated heat, soil type, cultivar, and fertilizer application rates. Two primary machine learning algorithms—Random Forest and LightGBM—were implemented and their performances compared in a rigorous experimental setup. Data preprocessing involved outlier removal, encoding of categorical variables, and dataset balancing using synthetic sampling techniques. This comprehensive approach ensures broad applicability of the models to different cotton-growing environments, with the objective of promoting data-driven decision-making.</a:t>
            </a:r>
          </a:p>
          <a:p>
            <a:pPr algn="just"/>
            <a:r>
              <a:rPr lang="en-US" sz="2200" dirty="0"/>
              <a:t> </a:t>
            </a:r>
            <a:endParaRPr lang="en-IN" sz="2400"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z="2200"/>
              <a:t>1. Batch No.</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z="2200"/>
              <a:t>1. 19-12-2024</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z="2200"/>
              <a:t>1. 4</a:t>
            </a:r>
            <a:endParaRPr spc="-25"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a:latin typeface="Times New Roman"/>
              <a:cs typeface="Times New Roman"/>
            </a:endParaRP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976D7AE-04B0-3DE7-6544-C2754E89E805}"/>
              </a:ext>
            </a:extLst>
          </p:cNvPr>
          <p:cNvSpPr>
            <a:spLocks noGrp="1"/>
          </p:cNvSpPr>
          <p:nvPr>
            <p:ph type="body" idx="1"/>
          </p:nvPr>
        </p:nvSpPr>
        <p:spPr>
          <a:xfrm>
            <a:off x="876300" y="685800"/>
            <a:ext cx="10439400" cy="7032694"/>
          </a:xfrm>
        </p:spPr>
        <p:txBody>
          <a:bodyPr/>
          <a:lstStyle/>
          <a:p>
            <a:r>
              <a:rPr sz="2200"/>
              <a:t>1. The experimental results are significant: The Random Forest model achieved a high prediction accuracy of 97.93%, coupled with a root mean square error (RMSE) of 4.668 and a coefficient of determination (R²) of 0.9793. The LightGBM model demonstrated even better performance, with an RMSE of 2.711, R² of 0.9930, and highest accuracy of 99.30%. These findings not only illustrate the power of modern machine learning in agricultural forecasting but also reaffirm the value of accumulated heat-based variables for modeling climate impacts on yield. In the context of accelerating climate change, the developed ensemble learning models provide cotton producers, extension agents, and policy makers with reliable, near-real-time yield estimates. The research advances the cause of precision agriculture and sustainable crop management, allowing for optimized input use, proactive risk management, and increased productivity. The models are also computationally efficient, facilitating seamless integration into operational farm information systems, and serve as a blueprint for yield predictions in other major crops worldwide.</a:t>
            </a:r>
          </a:p>
          <a:p>
            <a:br>
              <a:rPr lang="en-US" sz="2400" dirty="0"/>
            </a:br>
            <a:endParaRPr lang="en-US" sz="2400" dirty="0"/>
          </a:p>
          <a:p>
            <a:endParaRPr lang="en-IN" sz="2400" dirty="0"/>
          </a:p>
          <a:p>
            <a:endParaRPr lang="en-IN" sz="2500" dirty="0"/>
          </a:p>
        </p:txBody>
      </p:sp>
    </p:spTree>
    <p:extLst>
      <p:ext uri="{BB962C8B-B14F-4D97-AF65-F5344CB8AC3E}">
        <p14:creationId xmlns:p14="http://schemas.microsoft.com/office/powerpoint/2010/main" val="895321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62889" rIns="0" bIns="0" rtlCol="0">
            <a:spAutoFit/>
          </a:bodyPr>
          <a:lstStyle/>
          <a:p>
            <a:r>
              <a:rPr sz="2200"/>
              <a:t>6. INTRODUCTION</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z="2200"/>
              <a:t>1. 19-12-2024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z="2200"/>
              <a:t>1. Batch 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z="2200"/>
              <a:t>1. 6</a:t>
            </a:r>
            <a:endParaRPr spc="-25" dirty="0"/>
          </a:p>
        </p:txBody>
      </p:sp>
      <p:sp>
        <p:nvSpPr>
          <p:cNvPr id="10" name="TextBox 9">
            <a:extLst>
              <a:ext uri="{FF2B5EF4-FFF2-40B4-BE49-F238E27FC236}">
                <a16:creationId xmlns:a16="http://schemas.microsoft.com/office/drawing/2014/main" id="{AAA53010-6EC8-AABC-D837-DF462DB2C264}"/>
              </a:ext>
            </a:extLst>
          </p:cNvPr>
          <p:cNvSpPr txBox="1"/>
          <p:nvPr/>
        </p:nvSpPr>
        <p:spPr>
          <a:xfrm>
            <a:off x="1257299" y="1371600"/>
            <a:ext cx="9677400" cy="4939814"/>
          </a:xfrm>
          <a:prstGeom prst="rect">
            <a:avLst/>
          </a:prstGeom>
          <a:noFill/>
        </p:spPr>
        <p:txBody>
          <a:bodyPr wrap="square">
            <a:spAutoFit/>
          </a:bodyPr>
          <a:lstStyle/>
          <a:p>
            <a:r>
              <a:rPr sz="2200"/>
              <a:t>1. Cotton, as a critical cash crop, underpins the agricultural economies of several major regions worldwide, especially in the southern United States. Yield prediction has emerged as an essential challenge in recent years due to rapidly shifting climate patterns, increasing soil diversity, and continuous changes in agricultural management practices. Accurate and timely estimates of cotton yield are vital for farmers, supply chain managers, and policy makers, enabling them to make informed decisions about resource allocation, risk management, and market strategies. Traditional forecasting tools struggle to cope with the nonlinear, multi-factor complexity of climate-smart agriculture, necessitating new solutions rooted in artificial intelligence and data science. The study introduces a climate-smart approach to cotton yield prediction, focusing on ensemble machine learning methods that can integrate diverse climatic and management data. </a:t>
            </a:r>
            <a:endParaRPr lang="en-IN"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82472FE-DAB5-389F-DDB0-EE7C1A1E707B}"/>
              </a:ext>
            </a:extLst>
          </p:cNvPr>
          <p:cNvSpPr>
            <a:spLocks noGrp="1"/>
          </p:cNvSpPr>
          <p:nvPr>
            <p:ph type="body" idx="1"/>
          </p:nvPr>
        </p:nvSpPr>
        <p:spPr>
          <a:xfrm>
            <a:off x="990600" y="685801"/>
            <a:ext cx="10533760" cy="5562599"/>
          </a:xfrm>
        </p:spPr>
        <p:txBody>
          <a:bodyPr/>
          <a:lstStyle/>
          <a:p>
            <a:r>
              <a:rPr sz="2200"/>
              <a:t>1. Building on field and synthetic datasets from the U.S. southern cotton belt, advanced models such as Random Forest and LightGBM are developed to learn from accumulated heat, soil type, cultivar, and fertilizer application rates—variables proven to directly affect crop productivity under real conditions. By prioritizing these key features over more volatile parameters like rainfall and solar radiation, the system offers computational efficiency and robust forecasting performance. Motivated by the ongoing need for precision agriculture, the project responds to recent research trends that highlight the adaptability of temperature-derived indicators and ensemble learning frameworks in agricultural prediction. Prior work in regions as diverse as Pakistan, Turkey, and across the United States shows that localizing model features to region-specific agro-ecological conditions and deploying ensemble learning for data heterogeneity delivers better predictive stability and generalization. The present methodology not only leverages modern machine learning techniques but also applies rigorous data preprocessing—outlier removal, categorical encoding, balanced sampling to maximize accuracy, resilience, and utility in practical farm management.</a:t>
            </a:r>
          </a:p>
          <a:p>
            <a:endParaRPr lang="en-US" sz="2500" dirty="0"/>
          </a:p>
          <a:p>
            <a:endParaRPr lang="en-US" sz="2500" dirty="0"/>
          </a:p>
          <a:p>
            <a:endParaRPr lang="en-IN" sz="2500" dirty="0"/>
          </a:p>
        </p:txBody>
      </p:sp>
    </p:spTree>
    <p:extLst>
      <p:ext uri="{BB962C8B-B14F-4D97-AF65-F5344CB8AC3E}">
        <p14:creationId xmlns:p14="http://schemas.microsoft.com/office/powerpoint/2010/main" val="1315869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99865" y="283463"/>
            <a:ext cx="5544820" cy="632460"/>
          </a:xfrm>
          <a:prstGeom prst="rect">
            <a:avLst/>
          </a:prstGeom>
        </p:spPr>
        <p:txBody>
          <a:bodyPr vert="horz" wrap="square" lIns="0" tIns="16510" rIns="0" bIns="0" rtlCol="0">
            <a:spAutoFit/>
          </a:bodyPr>
          <a:lstStyle/>
          <a:p>
            <a:r>
              <a:rPr sz="2200"/>
              <a:t>8. LITERATURE SURVEY</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z="2200"/>
              <a:t>1. 19-12-2024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z="2200"/>
              <a:t>1. Batch 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z="2200"/>
              <a:t>1. 8</a:t>
            </a:r>
            <a:endParaRPr spc="-25" dirty="0"/>
          </a:p>
        </p:txBody>
      </p:sp>
      <p:graphicFrame>
        <p:nvGraphicFramePr>
          <p:cNvPr id="3" name="object 3"/>
          <p:cNvGraphicFramePr>
            <a:graphicFrameLocks noGrp="1"/>
          </p:cNvGraphicFramePr>
          <p:nvPr>
            <p:extLst>
              <p:ext uri="{D42A27DB-BD31-4B8C-83A1-F6EECF244321}">
                <p14:modId xmlns:p14="http://schemas.microsoft.com/office/powerpoint/2010/main" val="1875939041"/>
              </p:ext>
            </p:extLst>
          </p:nvPr>
        </p:nvGraphicFramePr>
        <p:xfrm>
          <a:off x="679450" y="1052194"/>
          <a:ext cx="10822939" cy="5130799"/>
        </p:xfrm>
        <a:graphic>
          <a:graphicData uri="http://schemas.openxmlformats.org/drawingml/2006/table">
            <a:tbl>
              <a:tblPr firstRow="1" bandRow="1">
                <a:tableStyleId>{2D5ABB26-0587-4C30-8999-92F81FD0307C}</a:tableStyleId>
              </a:tblPr>
              <a:tblGrid>
                <a:gridCol w="608330">
                  <a:extLst>
                    <a:ext uri="{9D8B030D-6E8A-4147-A177-3AD203B41FA5}">
                      <a16:colId xmlns:a16="http://schemas.microsoft.com/office/drawing/2014/main" val="20000"/>
                    </a:ext>
                  </a:extLst>
                </a:gridCol>
                <a:gridCol w="1943735">
                  <a:extLst>
                    <a:ext uri="{9D8B030D-6E8A-4147-A177-3AD203B41FA5}">
                      <a16:colId xmlns:a16="http://schemas.microsoft.com/office/drawing/2014/main" val="20001"/>
                    </a:ext>
                  </a:extLst>
                </a:gridCol>
                <a:gridCol w="1619884">
                  <a:extLst>
                    <a:ext uri="{9D8B030D-6E8A-4147-A177-3AD203B41FA5}">
                      <a16:colId xmlns:a16="http://schemas.microsoft.com/office/drawing/2014/main" val="20002"/>
                    </a:ext>
                  </a:extLst>
                </a:gridCol>
                <a:gridCol w="1671320">
                  <a:extLst>
                    <a:ext uri="{9D8B030D-6E8A-4147-A177-3AD203B41FA5}">
                      <a16:colId xmlns:a16="http://schemas.microsoft.com/office/drawing/2014/main" val="20003"/>
                    </a:ext>
                  </a:extLst>
                </a:gridCol>
                <a:gridCol w="1887220">
                  <a:extLst>
                    <a:ext uri="{9D8B030D-6E8A-4147-A177-3AD203B41FA5}">
                      <a16:colId xmlns:a16="http://schemas.microsoft.com/office/drawing/2014/main" val="20004"/>
                    </a:ext>
                  </a:extLst>
                </a:gridCol>
                <a:gridCol w="1546225">
                  <a:extLst>
                    <a:ext uri="{9D8B030D-6E8A-4147-A177-3AD203B41FA5}">
                      <a16:colId xmlns:a16="http://schemas.microsoft.com/office/drawing/2014/main" val="20005"/>
                    </a:ext>
                  </a:extLst>
                </a:gridCol>
                <a:gridCol w="1546225">
                  <a:extLst>
                    <a:ext uri="{9D8B030D-6E8A-4147-A177-3AD203B41FA5}">
                      <a16:colId xmlns:a16="http://schemas.microsoft.com/office/drawing/2014/main" val="20006"/>
                    </a:ext>
                  </a:extLst>
                </a:gridCol>
              </a:tblGrid>
              <a:tr h="643255">
                <a:tc>
                  <a:txBody>
                    <a:bodyPr/>
                    <a:lstStyle/>
                    <a:p>
                      <a:pPr marL="182880">
                        <a:lnSpc>
                          <a:spcPct val="100000"/>
                        </a:lnSpc>
                        <a:spcBef>
                          <a:spcPts val="325"/>
                        </a:spcBef>
                      </a:pPr>
                      <a:r>
                        <a:rPr sz="1550" b="1" spc="-25" dirty="0">
                          <a:latin typeface="Calibri"/>
                          <a:cs typeface="Calibri"/>
                        </a:rPr>
                        <a:t>No</a:t>
                      </a:r>
                      <a:endParaRPr sz="155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35" algn="ctr">
                        <a:lnSpc>
                          <a:spcPct val="100000"/>
                        </a:lnSpc>
                        <a:spcBef>
                          <a:spcPts val="325"/>
                        </a:spcBef>
                      </a:pPr>
                      <a:r>
                        <a:rPr sz="1550" b="1" spc="-10" dirty="0">
                          <a:latin typeface="Calibri"/>
                          <a:cs typeface="Calibri"/>
                        </a:rPr>
                        <a:t>Title</a:t>
                      </a:r>
                      <a:endParaRPr sz="155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14984">
                        <a:lnSpc>
                          <a:spcPct val="100000"/>
                        </a:lnSpc>
                        <a:spcBef>
                          <a:spcPts val="325"/>
                        </a:spcBef>
                      </a:pPr>
                      <a:r>
                        <a:rPr sz="1550" b="1" spc="-10" dirty="0">
                          <a:latin typeface="Calibri"/>
                          <a:cs typeface="Calibri"/>
                        </a:rPr>
                        <a:t>Author</a:t>
                      </a:r>
                      <a:endParaRPr sz="155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657225" marR="147955" indent="-494665">
                        <a:lnSpc>
                          <a:spcPct val="104900"/>
                        </a:lnSpc>
                        <a:spcBef>
                          <a:spcPts val="229"/>
                        </a:spcBef>
                      </a:pPr>
                      <a:r>
                        <a:rPr sz="1550" b="1" dirty="0">
                          <a:latin typeface="Calibri"/>
                          <a:cs typeface="Calibri"/>
                        </a:rPr>
                        <a:t>Journal</a:t>
                      </a:r>
                      <a:r>
                        <a:rPr sz="1550" b="1" spc="130" dirty="0">
                          <a:latin typeface="Calibri"/>
                          <a:cs typeface="Calibri"/>
                        </a:rPr>
                        <a:t> </a:t>
                      </a:r>
                      <a:r>
                        <a:rPr sz="1550" b="1" dirty="0">
                          <a:latin typeface="Calibri"/>
                          <a:cs typeface="Calibri"/>
                        </a:rPr>
                        <a:t>Name</a:t>
                      </a:r>
                      <a:r>
                        <a:rPr sz="1550" b="1" spc="90" dirty="0">
                          <a:latin typeface="Calibri"/>
                          <a:cs typeface="Calibri"/>
                        </a:rPr>
                        <a:t> </a:t>
                      </a:r>
                      <a:r>
                        <a:rPr sz="1550" b="1" spc="-50" dirty="0">
                          <a:latin typeface="Calibri"/>
                          <a:cs typeface="Calibri"/>
                        </a:rPr>
                        <a:t>&amp; </a:t>
                      </a:r>
                      <a:r>
                        <a:rPr sz="1550" b="1" spc="-20" dirty="0">
                          <a:latin typeface="Calibri"/>
                          <a:cs typeface="Calibri"/>
                        </a:rPr>
                        <a:t>Year</a:t>
                      </a:r>
                      <a:endParaRPr sz="155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588010" marR="367030" indent="-208915">
                        <a:lnSpc>
                          <a:spcPct val="104900"/>
                        </a:lnSpc>
                        <a:spcBef>
                          <a:spcPts val="229"/>
                        </a:spcBef>
                      </a:pPr>
                      <a:r>
                        <a:rPr sz="1550" b="1" spc="-10" dirty="0">
                          <a:latin typeface="Calibri"/>
                          <a:cs typeface="Calibri"/>
                        </a:rPr>
                        <a:t>Methodology Adapted</a:t>
                      </a:r>
                      <a:endParaRPr sz="155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254635">
                        <a:lnSpc>
                          <a:spcPct val="100000"/>
                        </a:lnSpc>
                        <a:spcBef>
                          <a:spcPts val="325"/>
                        </a:spcBef>
                      </a:pPr>
                      <a:r>
                        <a:rPr sz="1550" b="1" dirty="0">
                          <a:latin typeface="Calibri"/>
                          <a:cs typeface="Calibri"/>
                        </a:rPr>
                        <a:t>Key</a:t>
                      </a:r>
                      <a:r>
                        <a:rPr sz="1550" b="1" spc="45" dirty="0">
                          <a:latin typeface="Calibri"/>
                          <a:cs typeface="Calibri"/>
                        </a:rPr>
                        <a:t> </a:t>
                      </a:r>
                      <a:r>
                        <a:rPr sz="1550" b="1" spc="-10" dirty="0">
                          <a:latin typeface="Calibri"/>
                          <a:cs typeface="Calibri"/>
                        </a:rPr>
                        <a:t>Findings</a:t>
                      </a:r>
                      <a:endParaRPr sz="155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19050" algn="ctr">
                        <a:lnSpc>
                          <a:spcPct val="100000"/>
                        </a:lnSpc>
                        <a:spcBef>
                          <a:spcPts val="325"/>
                        </a:spcBef>
                      </a:pPr>
                      <a:r>
                        <a:rPr sz="1550" b="1" spc="-20" dirty="0">
                          <a:latin typeface="Calibri"/>
                          <a:cs typeface="Calibri"/>
                        </a:rPr>
                        <a:t>Gaps</a:t>
                      </a:r>
                      <a:endParaRPr sz="155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010919">
                <a:tc>
                  <a:txBody>
                    <a:bodyPr/>
                    <a:lstStyle/>
                    <a:p>
                      <a:pPr marL="92075">
                        <a:lnSpc>
                          <a:spcPct val="100000"/>
                        </a:lnSpc>
                        <a:spcBef>
                          <a:spcPts val="254"/>
                        </a:spcBef>
                      </a:pPr>
                      <a:r>
                        <a:rPr sz="1400" spc="-50" dirty="0">
                          <a:latin typeface="Calibri"/>
                          <a:cs typeface="Calibri"/>
                        </a:rPr>
                        <a:t>1</a:t>
                      </a:r>
                      <a:endParaRPr sz="14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54"/>
                        </a:spcBef>
                      </a:pPr>
                      <a:r>
                        <a:rPr lang="en-US" sz="1100" b="0" i="0" dirty="0">
                          <a:solidFill>
                            <a:schemeClr val="tx1"/>
                          </a:solidFill>
                          <a:effectLst/>
                          <a:latin typeface="+mn-lt"/>
                          <a:ea typeface="+mn-ea"/>
                          <a:cs typeface="+mn-cs"/>
                        </a:rPr>
                        <a:t>Climate-driven Yield Prediction Using Temperature Indicators</a:t>
                      </a:r>
                      <a:endParaRPr sz="1100" dirty="0">
                        <a:latin typeface="Calibri"/>
                        <a:cs typeface="Calibri"/>
                      </a:endParaRPr>
                    </a:p>
                  </a:txBody>
                  <a:tcPr marL="0" marR="0" marT="32384" marB="0">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fontAlgn="base" latinLnBrk="0">
                        <a:buNone/>
                      </a:pPr>
                      <a:r>
                        <a:rPr lang="en-US" sz="1100" dirty="0">
                          <a:effectLst/>
                        </a:rPr>
                        <a:t>V. Karimi, L. Smith, R. Brown</a:t>
                      </a:r>
                    </a:p>
                  </a:txBody>
                  <a:tcPr marL="50800" marR="5080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fontAlgn="base" latinLnBrk="0">
                        <a:buNone/>
                      </a:pPr>
                      <a:r>
                        <a:rPr lang="en-US" sz="1100" dirty="0">
                          <a:effectLst/>
                        </a:rPr>
                        <a:t>IEEE J. of Selected Topics in Applied Earth Observations and Remote Sensing, 2023</a:t>
                      </a:r>
                    </a:p>
                  </a:txBody>
                  <a:tcPr marL="50800" marR="5080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fontAlgn="base" latinLnBrk="0">
                        <a:buNone/>
                      </a:pPr>
                      <a:r>
                        <a:rPr lang="en-US" sz="1100" dirty="0">
                          <a:effectLst/>
                        </a:rPr>
                        <a:t>Regression models with temperature-derived variables for cotton yield</a:t>
                      </a:r>
                    </a:p>
                  </a:txBody>
                  <a:tcPr marL="50800" marR="5080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fontAlgn="base" latinLnBrk="0">
                        <a:buNone/>
                      </a:pPr>
                      <a:r>
                        <a:rPr lang="en-US" sz="1100" dirty="0">
                          <a:effectLst/>
                        </a:rPr>
                        <a:t>Accumulated heat units improve model interpretability and reduce input complexity</a:t>
                      </a:r>
                    </a:p>
                  </a:txBody>
                  <a:tcPr marL="50800" marR="5080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fontAlgn="base" latinLnBrk="0">
                        <a:buNone/>
                      </a:pPr>
                      <a:r>
                        <a:rPr lang="en-US" sz="1100" dirty="0">
                          <a:effectLst/>
                        </a:rPr>
                        <a:t>Limited spatial detail, needs more regional validation</a:t>
                      </a:r>
                    </a:p>
                  </a:txBody>
                  <a:tcPr marL="50800" marR="5080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91210">
                <a:tc>
                  <a:txBody>
                    <a:bodyPr/>
                    <a:lstStyle/>
                    <a:p>
                      <a:pPr marL="92075">
                        <a:lnSpc>
                          <a:spcPct val="100000"/>
                        </a:lnSpc>
                        <a:spcBef>
                          <a:spcPts val="265"/>
                        </a:spcBef>
                      </a:pPr>
                      <a:r>
                        <a:rPr sz="1400" spc="-50" dirty="0">
                          <a:latin typeface="Calibri"/>
                          <a:cs typeface="Calibri"/>
                        </a:rPr>
                        <a:t>2</a:t>
                      </a:r>
                      <a:endParaRPr sz="1400">
                        <a:latin typeface="Calibri"/>
                        <a:cs typeface="Calibri"/>
                      </a:endParaRPr>
                    </a:p>
                  </a:txBody>
                  <a:tcPr marL="0" marR="0" marT="33655" marB="0">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gn="l" fontAlgn="base" latinLnBrk="0">
                        <a:buNone/>
                      </a:pPr>
                      <a:r>
                        <a:rPr lang="en-US" sz="1100" dirty="0">
                          <a:effectLst/>
                        </a:rPr>
                        <a:t>Cotton Yield Prediction: ML Approach with Field &amp; Synthetic Data</a:t>
                      </a:r>
                    </a:p>
                  </a:txBody>
                  <a:tcPr marL="50800" marR="5080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gn="l" fontAlgn="base" latinLnBrk="0">
                        <a:buNone/>
                      </a:pPr>
                      <a:r>
                        <a:rPr lang="da-DK" sz="1100" dirty="0">
                          <a:effectLst/>
                        </a:rPr>
                        <a:t>A. Mitra, S. Beegum, D. Fleisher, et al.</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ase" latinLnBrk="0">
                        <a:buNone/>
                      </a:pPr>
                      <a:r>
                        <a:rPr lang="en-IN" sz="1100" dirty="0">
                          <a:effectLst/>
                        </a:rPr>
                        <a:t>IEEE Access, 2024</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ase" latinLnBrk="0">
                        <a:buNone/>
                      </a:pPr>
                      <a:r>
                        <a:rPr lang="en-IN" sz="1100" dirty="0">
                          <a:effectLst/>
                        </a:rPr>
                        <a:t>GOSSYM model field data + ML ensemble methods (Random Forest, </a:t>
                      </a:r>
                      <a:r>
                        <a:rPr lang="en-IN" sz="1100" dirty="0" err="1">
                          <a:effectLst/>
                        </a:rPr>
                        <a:t>LightGBM</a:t>
                      </a:r>
                      <a:r>
                        <a:rPr lang="en-IN" sz="1100" dirty="0">
                          <a:effectLst/>
                        </a:rPr>
                        <a:t>)</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ase" latinLnBrk="0">
                        <a:buNone/>
                      </a:pPr>
                      <a:r>
                        <a:rPr lang="en-US" sz="1100" dirty="0">
                          <a:effectLst/>
                        </a:rPr>
                        <a:t>Ensemble learners robustly model climate, soil, and management effects; </a:t>
                      </a:r>
                      <a:r>
                        <a:rPr lang="en-US" sz="1100" dirty="0" err="1">
                          <a:effectLst/>
                        </a:rPr>
                        <a:t>LightGBM</a:t>
                      </a:r>
                      <a:r>
                        <a:rPr lang="en-US" sz="1100" dirty="0">
                          <a:effectLst/>
                        </a:rPr>
                        <a:t> achieves top accuracy</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ase" latinLnBrk="0">
                        <a:buNone/>
                      </a:pPr>
                      <a:r>
                        <a:rPr lang="en-US" sz="1100" dirty="0">
                          <a:effectLst/>
                        </a:rPr>
                        <a:t>Challenging to scale synthetic data beyond local context</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08380">
                <a:tc>
                  <a:txBody>
                    <a:bodyPr/>
                    <a:lstStyle/>
                    <a:p>
                      <a:pPr marL="92075">
                        <a:lnSpc>
                          <a:spcPct val="100000"/>
                        </a:lnSpc>
                        <a:spcBef>
                          <a:spcPts val="275"/>
                        </a:spcBef>
                      </a:pPr>
                      <a:r>
                        <a:rPr sz="1400" spc="-50" dirty="0">
                          <a:latin typeface="Calibri"/>
                          <a:cs typeface="Calibri"/>
                        </a:rPr>
                        <a:t>3</a:t>
                      </a:r>
                      <a:endParaRPr sz="1400">
                        <a:latin typeface="Calibri"/>
                        <a:cs typeface="Calibri"/>
                      </a:endParaRPr>
                    </a:p>
                  </a:txBody>
                  <a:tcPr marL="0" marR="0" marT="34925" marB="0">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fontAlgn="base" latinLnBrk="0">
                        <a:buNone/>
                      </a:pPr>
                      <a:r>
                        <a:rPr lang="en-US" sz="1100" dirty="0">
                          <a:effectLst/>
                        </a:rPr>
                        <a:t>Nationwide High-Resolution Cotton Yield Estimation via Downscaling</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latinLnBrk="0">
                        <a:buNone/>
                      </a:pPr>
                      <a:r>
                        <a:rPr lang="de-DE" sz="1100" dirty="0">
                          <a:effectLst/>
                        </a:rPr>
                        <a:t>M. S. Isik, M. F. Celik, E. Erten</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latinLnBrk="0">
                        <a:buNone/>
                      </a:pPr>
                      <a:r>
                        <a:rPr lang="en-IN" sz="1100" dirty="0">
                          <a:effectLst/>
                        </a:rPr>
                        <a:t>IGARSS, 2024</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latinLnBrk="0">
                        <a:buNone/>
                      </a:pPr>
                      <a:r>
                        <a:rPr lang="en-US" sz="1100">
                          <a:effectLst/>
                        </a:rPr>
                        <a:t>Linking county-level statistics to satellite Earth observation data</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latinLnBrk="0">
                        <a:buNone/>
                      </a:pPr>
                      <a:r>
                        <a:rPr lang="en-US" sz="1100">
                          <a:effectLst/>
                        </a:rPr>
                        <a:t>Field-level spatial detail enabled; bridging administrative and true yield records</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latinLnBrk="0">
                        <a:buNone/>
                      </a:pPr>
                      <a:r>
                        <a:rPr lang="en-IN" sz="1100" dirty="0">
                          <a:effectLst/>
                        </a:rPr>
                        <a:t>Satellite data limitations, possible calibration errors</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94080">
                <a:tc>
                  <a:txBody>
                    <a:bodyPr/>
                    <a:lstStyle/>
                    <a:p>
                      <a:pPr marL="92075">
                        <a:lnSpc>
                          <a:spcPct val="100000"/>
                        </a:lnSpc>
                        <a:spcBef>
                          <a:spcPts val="285"/>
                        </a:spcBef>
                      </a:pPr>
                      <a:r>
                        <a:rPr sz="1400" spc="-50" dirty="0">
                          <a:latin typeface="Calibri"/>
                          <a:cs typeface="Calibri"/>
                        </a:rPr>
                        <a:t>4</a:t>
                      </a:r>
                      <a:endParaRPr sz="1400">
                        <a:latin typeface="Calibri"/>
                        <a:cs typeface="Calibri"/>
                      </a:endParaRPr>
                    </a:p>
                  </a:txBody>
                  <a:tcPr marL="0" marR="0" marT="36195" marB="0">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fontAlgn="base" latinLnBrk="0">
                        <a:buNone/>
                      </a:pPr>
                      <a:r>
                        <a:rPr lang="en-US" sz="1100" dirty="0">
                          <a:effectLst/>
                        </a:rPr>
                        <a:t>Multispectral UAV Imagery for Plot-scale Cotton Growth Mapping</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latinLnBrk="0">
                        <a:buNone/>
                      </a:pPr>
                      <a:r>
                        <a:rPr lang="it-IT" sz="1100" dirty="0">
                          <a:effectLst/>
                        </a:rPr>
                        <a:t>F. Devoto, D. Ashourloo, Y. Zhao, et al.</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latinLnBrk="0">
                        <a:buNone/>
                      </a:pPr>
                      <a:r>
                        <a:rPr lang="en-IN" sz="1100" dirty="0">
                          <a:effectLst/>
                        </a:rPr>
                        <a:t>IGARSS, 2025</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latinLnBrk="0">
                        <a:buNone/>
                      </a:pPr>
                      <a:r>
                        <a:rPr lang="en-US" sz="1100" dirty="0">
                          <a:effectLst/>
                        </a:rPr>
                        <a:t>UAV multispectral imagery aligned with yield data; time series analysis</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latinLnBrk="0">
                        <a:buNone/>
                      </a:pPr>
                      <a:r>
                        <a:rPr lang="en-US" sz="1100">
                          <a:effectLst/>
                        </a:rPr>
                        <a:t>Tracks growth trajectories, supports early management decisions</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latinLnBrk="0">
                        <a:buNone/>
                      </a:pPr>
                      <a:r>
                        <a:rPr lang="en-IN" sz="1100" dirty="0">
                          <a:effectLst/>
                        </a:rPr>
                        <a:t>High operational cost, data-intensive</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44525">
                <a:tc>
                  <a:txBody>
                    <a:bodyPr/>
                    <a:lstStyle/>
                    <a:p>
                      <a:pPr marL="92075">
                        <a:lnSpc>
                          <a:spcPct val="100000"/>
                        </a:lnSpc>
                        <a:spcBef>
                          <a:spcPts val="295"/>
                        </a:spcBef>
                      </a:pPr>
                      <a:r>
                        <a:rPr sz="1400" spc="-50" dirty="0">
                          <a:latin typeface="Calibri"/>
                          <a:cs typeface="Calibri"/>
                        </a:rPr>
                        <a:t>5</a:t>
                      </a:r>
                      <a:endParaRPr sz="1400">
                        <a:latin typeface="Calibri"/>
                        <a:cs typeface="Calibri"/>
                      </a:endParaRPr>
                    </a:p>
                  </a:txBody>
                  <a:tcPr marL="0" marR="0" marT="37465" marB="0">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fontAlgn="base" latinLnBrk="0">
                        <a:buNone/>
                      </a:pPr>
                      <a:r>
                        <a:rPr lang="en-US" sz="1100" dirty="0">
                          <a:effectLst/>
                        </a:rPr>
                        <a:t>Multimodal Crop Yield Prediction with Soil, Climate, and Remote Sensing</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fontAlgn="base" latinLnBrk="0">
                        <a:buNone/>
                      </a:pPr>
                      <a:r>
                        <a:rPr lang="de-DE" sz="1100">
                          <a:effectLst/>
                        </a:rPr>
                        <a:t>J. Liu, H. Wang, Y. Chen</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fontAlgn="base" latinLnBrk="0">
                        <a:buNone/>
                      </a:pPr>
                      <a:r>
                        <a:rPr lang="en-IN" sz="1100">
                          <a:effectLst/>
                        </a:rPr>
                        <a:t>Proc. IEEE IGARSS, 2023</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fontAlgn="base" latinLnBrk="0">
                        <a:buNone/>
                      </a:pPr>
                      <a:r>
                        <a:rPr lang="en-US" sz="1100" dirty="0">
                          <a:effectLst/>
                        </a:rPr>
                        <a:t>Fusion of soil/climate/satellite data for regression and classification</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fontAlgn="base" latinLnBrk="0">
                        <a:buNone/>
                      </a:pPr>
                      <a:r>
                        <a:rPr lang="en-IN" sz="1100" dirty="0">
                          <a:effectLst/>
                        </a:rPr>
                        <a:t>Captures fine-scale variability; generative model integration</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fontAlgn="base" latinLnBrk="0">
                        <a:buNone/>
                      </a:pPr>
                      <a:r>
                        <a:rPr lang="en-IN" sz="1100" dirty="0">
                          <a:effectLst/>
                        </a:rPr>
                        <a:t>Computational complexity, multi-source harmonization</a:t>
                      </a:r>
                    </a:p>
                  </a:txBody>
                  <a:tcPr marL="50800" marR="50800" anchor="ctr">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BE0F1-5CD8-B8DB-77BC-57DCF9BABD9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C60C449-507D-853A-F736-11857CF6AB5B}"/>
              </a:ext>
            </a:extLst>
          </p:cNvPr>
          <p:cNvSpPr>
            <a:spLocks noGrp="1"/>
          </p:cNvSpPr>
          <p:nvPr>
            <p:ph type="body" idx="1"/>
          </p:nvPr>
        </p:nvSpPr>
        <p:spPr>
          <a:xfrm>
            <a:off x="917574" y="762000"/>
            <a:ext cx="10207625" cy="5755422"/>
          </a:xfrm>
        </p:spPr>
        <p:txBody>
          <a:bodyPr/>
          <a:lstStyle/>
          <a:p>
            <a:pPr marL="457200" indent="-457200">
              <a:buFont typeface="Arial" panose="020B0604020202020204" pitchFamily="34" charset="0"/>
              <a:buChar char="•"/>
            </a:pPr>
            <a:r>
              <a:rPr sz="2200"/>
              <a:t>1. Karimi et al. (2023) - Climate-driven Yield Prediction Using Temperature Indicators</a:t>
            </a:r>
            <a:br/>
            <a:r>
              <a:rPr sz="2200"/>
              <a:t>Key finding: Using temperature-derived variables greatly improves yield model accuracy and interpretability, supporting simplified feature selection.</a:t>
            </a:r>
            <a:br/>
            <a:r>
              <a:rPr sz="2200"/>
              <a:t>Relation: Your project also leverages accumulated heat as a critical data feature for robust, scalable predictions.</a:t>
            </a:r>
          </a:p>
          <a:p>
            <a:pPr marL="457200" indent="-457200">
              <a:buFont typeface="Arial" panose="020B0604020202020204" pitchFamily="34" charset="0"/>
              <a:buChar char="•"/>
            </a:pPr>
            <a:endParaRPr lang="en-US" sz="2200" dirty="0"/>
          </a:p>
          <a:p>
            <a:pPr marL="457200" indent="-457200">
              <a:buFont typeface="Arial" panose="020B0604020202020204" pitchFamily="34" charset="0"/>
              <a:buChar char="•"/>
            </a:pPr>
            <a:r>
              <a:rPr sz="2200"/>
              <a:t>3. Mitra et al. (2024) - Cotton Yield Prediction with Machine Learning</a:t>
            </a:r>
            <a:br/>
            <a:r>
              <a:rPr sz="2200"/>
              <a:t>Key finding: Field and synthetic data combined with ensemble learners like Random Forest and LightGBM produce highly accurate yield predictions.</a:t>
            </a:r>
            <a:br/>
            <a:r>
              <a:rPr sz="2200"/>
              <a:t>Relation: Validates the ensemble model approach and use of synthetic sampling you use for high generalizability and class balance.</a:t>
            </a:r>
          </a:p>
          <a:p>
            <a:pPr marL="457200" indent="-457200">
              <a:buFont typeface="Arial" panose="020B0604020202020204" pitchFamily="34" charset="0"/>
              <a:buChar char="•"/>
            </a:pPr>
            <a:endParaRPr lang="en-US" sz="2200" dirty="0"/>
          </a:p>
          <a:p>
            <a:pPr marL="457200" indent="-457200">
              <a:buFont typeface="Arial" panose="020B0604020202020204" pitchFamily="34" charset="0"/>
              <a:buChar char="•"/>
            </a:pPr>
            <a:r>
              <a:rPr sz="2200"/>
              <a:t>5. Isik et al. (2024) - Nationwide High-Resolution Cotton Yield Estimation</a:t>
            </a:r>
            <a:br/>
            <a:r>
              <a:rPr sz="2200"/>
              <a:t>Key finding: Integrating satellite Earth observation data with county-level statistics delivers field-level insights, improving spatial prediction.</a:t>
            </a:r>
            <a:br/>
            <a:r>
              <a:rPr sz="2200"/>
              <a:t>Relation: Points to possible future expansion for your system—integrating geospatial remote sensing for even greater resolution and applicability.</a:t>
            </a:r>
          </a:p>
        </p:txBody>
      </p:sp>
    </p:spTree>
    <p:extLst>
      <p:ext uri="{BB962C8B-B14F-4D97-AF65-F5344CB8AC3E}">
        <p14:creationId xmlns:p14="http://schemas.microsoft.com/office/powerpoint/2010/main" val="2767159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9F4C0C7-CF85-9C56-180D-FDA2796FE5C9}"/>
              </a:ext>
            </a:extLst>
          </p:cNvPr>
          <p:cNvSpPr>
            <a:spLocks noGrp="1"/>
          </p:cNvSpPr>
          <p:nvPr>
            <p:ph type="body" idx="1"/>
          </p:nvPr>
        </p:nvSpPr>
        <p:spPr>
          <a:xfrm>
            <a:off x="917574" y="685800"/>
            <a:ext cx="10283825" cy="4401205"/>
          </a:xfrm>
        </p:spPr>
        <p:txBody>
          <a:bodyPr/>
          <a:lstStyle/>
          <a:p>
            <a:pPr marL="342900" indent="-342900">
              <a:buFont typeface="Arial" panose="020B0604020202020204" pitchFamily="34" charset="0"/>
              <a:buChar char="•"/>
            </a:pPr>
            <a:r>
              <a:rPr sz="2200"/>
              <a:t>1. Devoto et al. (2025) - Multispectral UAV Imagery for Cotton Mapping</a:t>
            </a:r>
            <a:br/>
            <a:r>
              <a:rPr sz="2200"/>
              <a:t>Key finding: Multispectral imagery and time series analysis help growers anticipate growth rates and make proactive management decisions.</a:t>
            </a:r>
            <a:br/>
            <a:r>
              <a:rPr sz="2200"/>
              <a:t>Relation: Highlights sensor-based approaches that could be added to your pipeline for real-time yield monitoring and improved input management.</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sz="2200"/>
              <a:t>3. Liu et al. (2023) - Multimodal Crop Yield Prediction</a:t>
            </a:r>
            <a:br/>
            <a:r>
              <a:rPr sz="2200"/>
              <a:t>Key finding: Fusing soil, climate, and satellite data offers fine-scale yield variability insights, keeping models robust across environments.</a:t>
            </a:r>
            <a:br/>
            <a:r>
              <a:rPr sz="2200"/>
              <a:t>Relation: Reinforces the multimodal concept—your system’s extension to more data sources and crops builds on this foundation.</a:t>
            </a:r>
          </a:p>
          <a:p>
            <a:br>
              <a:rPr lang="en-US" sz="2200" dirty="0"/>
            </a:br>
            <a:endParaRPr lang="en-IN" sz="2200" dirty="0"/>
          </a:p>
        </p:txBody>
      </p:sp>
    </p:spTree>
    <p:extLst>
      <p:ext uri="{BB962C8B-B14F-4D97-AF65-F5344CB8AC3E}">
        <p14:creationId xmlns:p14="http://schemas.microsoft.com/office/powerpoint/2010/main" val="3166354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066800" y="304800"/>
            <a:ext cx="8382000" cy="942565"/>
          </a:xfrm>
          <a:prstGeom prst="rect">
            <a:avLst/>
          </a:prstGeom>
        </p:spPr>
        <p:txBody>
          <a:bodyPr vert="horz" wrap="square" lIns="0" tIns="262889" rIns="0" bIns="0" rtlCol="0">
            <a:spAutoFit/>
          </a:bodyPr>
          <a:lstStyle/>
          <a:p>
            <a:r>
              <a:rPr sz="2200"/>
              <a:t>11. RESEARCH GAPS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z="2200"/>
              <a:t>1. 19-12-2024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z="2200"/>
              <a:t>1. Batch 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z="2200"/>
              <a:t>1. 11</a:t>
            </a:r>
            <a:endParaRPr spc="-25" dirty="0"/>
          </a:p>
        </p:txBody>
      </p:sp>
      <p:sp>
        <p:nvSpPr>
          <p:cNvPr id="3" name="object 3"/>
          <p:cNvSpPr txBox="1"/>
          <p:nvPr/>
        </p:nvSpPr>
        <p:spPr>
          <a:xfrm>
            <a:off x="975614" y="1143000"/>
            <a:ext cx="10512425" cy="5203989"/>
          </a:xfrm>
          <a:prstGeom prst="rect">
            <a:avLst/>
          </a:prstGeom>
        </p:spPr>
        <p:txBody>
          <a:bodyPr vert="horz" wrap="square" lIns="0" tIns="99060" rIns="0" bIns="0" rtlCol="0">
            <a:spAutoFit/>
          </a:bodyPr>
          <a:lstStyle/>
          <a:p>
            <a:pPr marL="342900" indent="-342900">
              <a:buFont typeface="Arial" panose="020B0604020202020204" pitchFamily="34" charset="0"/>
              <a:buChar char="•"/>
            </a:pPr>
            <a:r>
              <a:rPr sz="2200"/>
              <a:t>1. Limited Generalization: Most studies have focused on single regions or specific datasets, making it difficult to generalize findings to new geographical areas or different growing environments.</a:t>
            </a:r>
          </a:p>
          <a:p>
            <a:pPr marL="342900" indent="-342900">
              <a:buFont typeface="Arial" panose="020B0604020202020204" pitchFamily="34" charset="0"/>
              <a:buChar char="•"/>
            </a:pPr>
            <a:r>
              <a:rPr sz="2200"/>
              <a:t>2. Data Integration Complexities: Integrating diverse data types—such as remote sensing, soil measurements, and management practices—remains a challenge due to inconsistencies in collection methods, missing values, and varying formats.</a:t>
            </a:r>
          </a:p>
          <a:p>
            <a:pPr marL="342900" indent="-342900">
              <a:buFont typeface="Arial" panose="020B0604020202020204" pitchFamily="34" charset="0"/>
              <a:buChar char="•"/>
            </a:pPr>
            <a:r>
              <a:rPr sz="2200"/>
              <a:t>3. Computational Efficiency: Many existing frameworks are either computationally intensive or require parameter-heavy models, which can limit applicability in real-time and resource-constrained environments.</a:t>
            </a:r>
          </a:p>
          <a:p>
            <a:br>
              <a:rPr lang="en-US" sz="2500" dirty="0"/>
            </a:br>
            <a:endParaRPr lang="en-US" sz="2500" dirty="0"/>
          </a:p>
          <a:p>
            <a:pPr marL="241300" indent="-228600">
              <a:lnSpc>
                <a:spcPct val="100000"/>
              </a:lnSpc>
              <a:spcBef>
                <a:spcPts val="780"/>
              </a:spcBef>
              <a:buFont typeface="Arial"/>
              <a:buChar char="•"/>
              <a:tabLst>
                <a:tab pos="241300" algn="l"/>
              </a:tabLst>
            </a:pPr>
            <a:endParaRPr sz="2500" dirty="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14E79E-C04A-231C-3DB6-6AAC60A15243}"/>
              </a:ext>
            </a:extLst>
          </p:cNvPr>
          <p:cNvSpPr>
            <a:spLocks noGrp="1"/>
          </p:cNvSpPr>
          <p:nvPr>
            <p:ph type="body" idx="1"/>
          </p:nvPr>
        </p:nvSpPr>
        <p:spPr>
          <a:xfrm>
            <a:off x="1066800" y="838200"/>
            <a:ext cx="10228960" cy="3116238"/>
          </a:xfrm>
        </p:spPr>
        <p:txBody>
          <a:bodyPr/>
          <a:lstStyle/>
          <a:p>
            <a:pPr marL="342900" indent="-342900">
              <a:buFont typeface="Arial" panose="020B0604020202020204" pitchFamily="34" charset="0"/>
              <a:buChar char="•"/>
            </a:pPr>
            <a:r>
              <a:rPr sz="2200"/>
              <a:t>1. Lack of Real-time Decision Support: Few prior works have implemented models in operational farm management platforms, limiting the practical utility for on-ground decision makers.</a:t>
            </a:r>
          </a:p>
          <a:p>
            <a:pPr marL="342900" indent="-342900">
              <a:buFont typeface="Arial" panose="020B0604020202020204" pitchFamily="34" charset="0"/>
              <a:buChar char="•"/>
            </a:pPr>
            <a:endParaRPr lang="en-US" sz="25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sz="2200"/>
              <a:t>3. Scope for Model Optimization: There remains an opportunity to further optimize ensemble algorithms for higher accuracy while maintaining or improving computational speed.</a:t>
            </a:r>
          </a:p>
          <a:p>
            <a:endParaRPr lang="en-IN" dirty="0"/>
          </a:p>
        </p:txBody>
      </p:sp>
    </p:spTree>
    <p:extLst>
      <p:ext uri="{BB962C8B-B14F-4D97-AF65-F5344CB8AC3E}">
        <p14:creationId xmlns:p14="http://schemas.microsoft.com/office/powerpoint/2010/main" val="635743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62889" rIns="0" bIns="0" rtlCol="0">
            <a:spAutoFit/>
          </a:bodyPr>
          <a:lstStyle/>
          <a:p>
            <a:r>
              <a:rPr sz="2200"/>
              <a:t>13. PROBLEM STATEMENT</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z="2200"/>
              <a:t>1. 19-12-2024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z="2200"/>
              <a:t>1. Batch 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z="2200"/>
              <a:t>1. 13</a:t>
            </a:r>
            <a:endParaRPr spc="-25" dirty="0"/>
          </a:p>
        </p:txBody>
      </p:sp>
      <p:sp>
        <p:nvSpPr>
          <p:cNvPr id="12" name="TextBox 11">
            <a:extLst>
              <a:ext uri="{FF2B5EF4-FFF2-40B4-BE49-F238E27FC236}">
                <a16:creationId xmlns:a16="http://schemas.microsoft.com/office/drawing/2014/main" id="{A02E2530-4505-3090-F739-2A46830752D8}"/>
              </a:ext>
            </a:extLst>
          </p:cNvPr>
          <p:cNvSpPr txBox="1"/>
          <p:nvPr/>
        </p:nvSpPr>
        <p:spPr>
          <a:xfrm>
            <a:off x="1295400" y="1859340"/>
            <a:ext cx="10101072" cy="4324261"/>
          </a:xfrm>
          <a:prstGeom prst="rect">
            <a:avLst/>
          </a:prstGeom>
          <a:noFill/>
        </p:spPr>
        <p:txBody>
          <a:bodyPr wrap="square">
            <a:spAutoFit/>
          </a:bodyPr>
          <a:lstStyle/>
          <a:p>
            <a:pPr algn="l">
              <a:buNone/>
            </a:pPr>
            <a:r>
              <a:rPr sz="2200"/>
              <a:t>1. Develop a robust, accurate, and computationally efficient machine learning framework for predicting cotton yield across major producing regions by:</a:t>
            </a:r>
          </a:p>
          <a:p>
            <a:pPr algn="l">
              <a:buNone/>
            </a:pPr>
            <a:endParaRPr lang="en-US" sz="25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sz="2200"/>
              <a:t>3. Integrating accumulated heat-based climate indicators, soil characteristics, and management variables.</a:t>
            </a:r>
          </a:p>
          <a:p>
            <a:pPr algn="l">
              <a:buFont typeface="Arial" panose="020B0604020202020204" pitchFamily="34" charset="0"/>
              <a:buChar char="•"/>
            </a:pPr>
            <a:r>
              <a:rPr sz="2200"/>
              <a:t>4. Utilizing both historical and synthetic datasets to capture the complex, nonlinear interactions affecting yield.</a:t>
            </a:r>
          </a:p>
          <a:p>
            <a:pPr algn="l">
              <a:buFont typeface="Arial" panose="020B0604020202020204" pitchFamily="34" charset="0"/>
              <a:buChar char="•"/>
            </a:pPr>
            <a:r>
              <a:rPr sz="2200"/>
              <a:t>5. Addressing scalability, data diversity, and real-time prediction needs relevant to precision agriculture.</a:t>
            </a:r>
          </a:p>
          <a:p>
            <a:pPr>
              <a:buNone/>
            </a:pPr>
            <a:br>
              <a:rPr lang="en-US" sz="2500" dirty="0">
                <a:latin typeface="Times New Roman" panose="02020603050405020304" pitchFamily="18" charset="0"/>
                <a:cs typeface="Times New Roman" panose="02020603050405020304" pitchFamily="18" charset="0"/>
              </a:rPr>
            </a:br>
            <a:endParaRPr lang="en-IN" sz="2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62889" rIns="0" bIns="0" rtlCol="0">
            <a:spAutoFit/>
          </a:bodyPr>
          <a:lstStyle/>
          <a:p>
            <a:r>
              <a:rPr sz="2200"/>
              <a:t>14. OBJECTIVES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z="2200"/>
              <a:t>1. 19-12-2024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dirty="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z="2200"/>
              <a:t>1. Batch 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z="2200"/>
              <a:t>1. 14</a:t>
            </a:r>
            <a:endParaRPr spc="-25" dirty="0"/>
          </a:p>
        </p:txBody>
      </p:sp>
      <p:sp>
        <p:nvSpPr>
          <p:cNvPr id="10" name="TextBox 9">
            <a:extLst>
              <a:ext uri="{FF2B5EF4-FFF2-40B4-BE49-F238E27FC236}">
                <a16:creationId xmlns:a16="http://schemas.microsoft.com/office/drawing/2014/main" id="{7046C159-184A-E767-3452-B96ECF386B4D}"/>
              </a:ext>
            </a:extLst>
          </p:cNvPr>
          <p:cNvSpPr txBox="1"/>
          <p:nvPr/>
        </p:nvSpPr>
        <p:spPr>
          <a:xfrm>
            <a:off x="533400" y="1143000"/>
            <a:ext cx="10896600" cy="5262979"/>
          </a:xfrm>
          <a:prstGeom prst="rect">
            <a:avLst/>
          </a:prstGeom>
          <a:noFill/>
        </p:spPr>
        <p:txBody>
          <a:bodyPr wrap="square">
            <a:spAutoFit/>
          </a:bodyPr>
          <a:lstStyle/>
          <a:p>
            <a:pPr marL="342900" indent="-342900" algn="l">
              <a:buFont typeface="Arial" panose="020B0604020202020204" pitchFamily="34" charset="0"/>
              <a:buChar char="•"/>
            </a:pPr>
            <a:r>
              <a:rPr sz="2200"/>
              <a:t>1. To collect, preprocess, a comprehensive dataset integrating historical records, synthetic data, and key agro-climatic variables (accumulated heat , soil type, culture    ,fertilizers).</a:t>
            </a:r>
          </a:p>
          <a:p>
            <a:pPr marL="342900" indent="-342900" algn="l">
              <a:buFont typeface="Arial" panose="020B0604020202020204" pitchFamily="34" charset="0"/>
              <a:buChar char="•"/>
            </a:pPr>
            <a:r>
              <a:rPr sz="2200"/>
              <a:t>2. To design and rigorously compare ensemble machine learning models (Random Forest, LightGBM) against traditional regression and ANN baselines for yield prediction.</a:t>
            </a:r>
          </a:p>
          <a:p>
            <a:pPr marL="342900" indent="-342900" algn="l">
              <a:buFont typeface="Arial" panose="020B0604020202020204" pitchFamily="34" charset="0"/>
              <a:buChar char="•"/>
            </a:pPr>
            <a:r>
              <a:rPr sz="2200"/>
              <a:t>3. To optimize model training and evaluation pipelines using techniques such as outlier removal, categorical encoding, and class balancing to maximize generalization and accuracy.</a:t>
            </a:r>
          </a:p>
          <a:p>
            <a:pPr marL="342900" indent="-342900" algn="l">
              <a:buFont typeface="Arial" panose="020B0604020202020204" pitchFamily="34" charset="0"/>
              <a:buChar char="•"/>
            </a:pPr>
            <a:r>
              <a:rPr sz="2200"/>
              <a:t>4. To validate the proposed framework’s performance using advanced error metrics (RMSE, R², NSE, accuracy) agricultural decision support.</a:t>
            </a:r>
          </a:p>
          <a:p>
            <a:pPr marL="342900" indent="-342900" algn="l">
              <a:buFont typeface="Arial" panose="020B0604020202020204" pitchFamily="34" charset="0"/>
              <a:buChar char="•"/>
            </a:pPr>
            <a:r>
              <a:rPr sz="2200"/>
              <a:t>5. To create guidelines for the integration of these models into climate-smart farm management systems and generate recommendations for expanding to additional crops and geographies.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99720" rIns="0" bIns="0" rtlCol="0">
            <a:spAutoFit/>
          </a:bodyPr>
          <a:lstStyle/>
          <a:p>
            <a:r>
              <a:rPr sz="2200"/>
              <a:t>15. BLOCK DIAGRAM OR FLOW DIAGRAM</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z="2200"/>
              <a:t>1. 19-12-2024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z="2200"/>
              <a:t>1. Batch 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z="2200"/>
              <a:t>1. 15</a:t>
            </a:r>
            <a:endParaRPr spc="-25" dirty="0"/>
          </a:p>
        </p:txBody>
      </p:sp>
      <p:pic>
        <p:nvPicPr>
          <p:cNvPr id="10" name="Picture 9" descr="A diagram of a field of cotton&#10;&#10;AI-generated content may be incorrect.">
            <a:extLst>
              <a:ext uri="{FF2B5EF4-FFF2-40B4-BE49-F238E27FC236}">
                <a16:creationId xmlns:a16="http://schemas.microsoft.com/office/drawing/2014/main" id="{95D393A6-1EC8-A7E6-AEDE-687FBA15D8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5400"/>
            <a:ext cx="12192000" cy="5562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62889" rIns="0" bIns="0" rtlCol="0">
            <a:spAutoFit/>
          </a:bodyPr>
          <a:lstStyle/>
          <a:p>
            <a:r>
              <a:rPr sz="2200"/>
              <a:t>16. METHODOLOGY</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z="2200"/>
              <a:t>1. 19-12-2024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z="2200"/>
              <a:t>1. Batch 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z="2200"/>
              <a:t>1. 16</a:t>
            </a:r>
            <a:endParaRPr spc="-25" dirty="0"/>
          </a:p>
        </p:txBody>
      </p:sp>
      <p:sp>
        <p:nvSpPr>
          <p:cNvPr id="3" name="object 3"/>
          <p:cNvSpPr txBox="1"/>
          <p:nvPr/>
        </p:nvSpPr>
        <p:spPr>
          <a:xfrm>
            <a:off x="685800" y="1410355"/>
            <a:ext cx="10820400" cy="5062924"/>
          </a:xfrm>
          <a:prstGeom prst="rect">
            <a:avLst/>
          </a:prstGeom>
        </p:spPr>
        <p:txBody>
          <a:bodyPr vert="horz" wrap="square" lIns="0" tIns="60960" rIns="0" bIns="0" rtlCol="0">
            <a:spAutoFit/>
          </a:bodyPr>
          <a:lstStyle/>
          <a:p>
            <a:r>
              <a:rPr sz="2200"/>
              <a:t>1. 1.Preprocessing:</a:t>
            </a:r>
          </a:p>
          <a:p>
            <a:pPr marL="342900" indent="-342900">
              <a:buFont typeface="Arial" panose="020B0604020202020204" pitchFamily="34" charset="0"/>
              <a:buChar char="•"/>
            </a:pPr>
            <a:r>
              <a:rPr sz="2200"/>
              <a:t>2. Outlier Detection and Removal : Outlier values in continuous variables (like temperature, yield) were identified using boxplots and standard deviation thresholds, and removed to improve model robustness and reduce data noi.</a:t>
            </a:r>
          </a:p>
          <a:p>
            <a:pPr marL="342900" indent="-342900">
              <a:buFont typeface="Arial" panose="020B0604020202020204" pitchFamily="34" charset="0"/>
              <a:buChar char="•"/>
            </a:pPr>
            <a:r>
              <a:rPr sz="2200"/>
              <a:t>3. Categorical Encoding : Non-numeric features (e.g., soil type, cultivar) were encoded using label encoding or one-hot encoding, enabling their use by machine learning algorithms.</a:t>
            </a:r>
          </a:p>
          <a:p>
            <a:pPr marL="342900" indent="-342900">
              <a:buFont typeface="Arial" panose="020B0604020202020204" pitchFamily="34" charset="0"/>
              <a:buChar char="•"/>
            </a:pPr>
            <a:r>
              <a:rPr sz="2200"/>
              <a:t>4. Data Balancing/Synthetic Sampling : Synthetic samples were generated to ensure that the target (yield class) was balanced across high, medium, and low categories, reducing model bias and improving performance.</a:t>
            </a:r>
          </a:p>
          <a:p>
            <a:br>
              <a:rPr lang="en-US" sz="2500" dirty="0"/>
            </a:br>
            <a:r>
              <a:rPr lang="en-US" sz="2200" dirty="0"/>
              <a:t> </a:t>
            </a:r>
            <a:endParaRPr sz="2500" dirty="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B2495-A7E7-8D42-C1A5-E80EF9005539}"/>
              </a:ext>
            </a:extLst>
          </p:cNvPr>
          <p:cNvSpPr>
            <a:spLocks noGrp="1"/>
          </p:cNvSpPr>
          <p:nvPr>
            <p:ph type="body" idx="1"/>
          </p:nvPr>
        </p:nvSpPr>
        <p:spPr>
          <a:xfrm>
            <a:off x="533400" y="914400"/>
            <a:ext cx="11049000" cy="5943600"/>
          </a:xfrm>
        </p:spPr>
        <p:txBody>
          <a:bodyPr/>
          <a:lstStyle/>
          <a:p>
            <a:r>
              <a:rPr sz="2200"/>
              <a:t>1. 2 . Exploratory Data Analysis (EDA)</a:t>
            </a:r>
          </a:p>
          <a:p>
            <a:pPr marL="342900" indent="-342900">
              <a:buFont typeface="Arial" panose="020B0604020202020204" pitchFamily="34" charset="0"/>
              <a:buChar char="•"/>
            </a:pPr>
            <a:r>
              <a:rPr sz="2200"/>
              <a:t>2. Boxplots/Histograms:</a:t>
            </a:r>
            <a:br/>
            <a:r>
              <a:rPr sz="2200"/>
              <a:t>Used to visually inspect data distributions, identify skewness, spot outliers, and assess class balance after balancing.</a:t>
            </a:r>
          </a:p>
          <a:p>
            <a:pPr marL="342900" indent="-342900">
              <a:buFont typeface="Arial" panose="020B0604020202020204" pitchFamily="34" charset="0"/>
              <a:buChar char="•"/>
            </a:pPr>
            <a:r>
              <a:rPr sz="2200"/>
              <a:t>3. Correlation Analysis:</a:t>
            </a:r>
            <a:br/>
            <a:r>
              <a:rPr sz="2200"/>
              <a:t>Performed to understand relationships between variables like accumulated heat, fertilizer rates, and yield, helping in feature selection and data understanding.</a:t>
            </a:r>
          </a:p>
          <a:p>
            <a:r>
              <a:rPr lang="en-IN" sz="2200" dirty="0"/>
              <a:t> </a:t>
            </a:r>
          </a:p>
        </p:txBody>
      </p:sp>
      <p:graphicFrame>
        <p:nvGraphicFramePr>
          <p:cNvPr id="4" name="Table 3">
            <a:extLst>
              <a:ext uri="{FF2B5EF4-FFF2-40B4-BE49-F238E27FC236}">
                <a16:creationId xmlns:a16="http://schemas.microsoft.com/office/drawing/2014/main" id="{DED86217-88BB-99E8-64A3-E4A27BADE400}"/>
              </a:ext>
            </a:extLst>
          </p:cNvPr>
          <p:cNvGraphicFramePr>
            <a:graphicFrameLocks noGrp="1"/>
          </p:cNvGraphicFramePr>
          <p:nvPr>
            <p:extLst>
              <p:ext uri="{D42A27DB-BD31-4B8C-83A1-F6EECF244321}">
                <p14:modId xmlns:p14="http://schemas.microsoft.com/office/powerpoint/2010/main" val="363028422"/>
              </p:ext>
            </p:extLst>
          </p:nvPr>
        </p:nvGraphicFramePr>
        <p:xfrm>
          <a:off x="609600" y="4114800"/>
          <a:ext cx="9982200" cy="2743200"/>
        </p:xfrm>
        <a:graphic>
          <a:graphicData uri="http://schemas.openxmlformats.org/drawingml/2006/table">
            <a:tbl>
              <a:tblPr/>
              <a:tblGrid>
                <a:gridCol w="4991100">
                  <a:extLst>
                    <a:ext uri="{9D8B030D-6E8A-4147-A177-3AD203B41FA5}">
                      <a16:colId xmlns:a16="http://schemas.microsoft.com/office/drawing/2014/main" val="1151014956"/>
                    </a:ext>
                  </a:extLst>
                </a:gridCol>
                <a:gridCol w="4991100">
                  <a:extLst>
                    <a:ext uri="{9D8B030D-6E8A-4147-A177-3AD203B41FA5}">
                      <a16:colId xmlns:a16="http://schemas.microsoft.com/office/drawing/2014/main" val="1661281173"/>
                    </a:ext>
                  </a:extLst>
                </a:gridCol>
              </a:tblGrid>
              <a:tr h="391395">
                <a:tc>
                  <a:txBody>
                    <a:bodyPr/>
                    <a:lstStyle/>
                    <a:p>
                      <a:pPr algn="l" fontAlgn="t" latinLnBrk="0">
                        <a:buNone/>
                      </a:pPr>
                      <a:r>
                        <a:rPr lang="en-IN" sz="1700" b="0">
                          <a:effectLst/>
                        </a:rPr>
                        <a:t>Component</a:t>
                      </a:r>
                    </a:p>
                  </a:txBody>
                  <a:tcPr marL="48881" marR="48881" marT="48881" marB="48881">
                    <a:lnL w="6350" cap="flat" cmpd="sng" algn="ctr">
                      <a:solidFill>
                        <a:srgbClr val="C0FC1A"/>
                      </a:solidFill>
                      <a:prstDash val="solid"/>
                      <a:round/>
                      <a:headEnd type="none" w="med" len="med"/>
                      <a:tailEnd type="none" w="med" len="med"/>
                    </a:lnL>
                    <a:lnR w="6350" cap="flat" cmpd="sng" algn="ctr">
                      <a:solidFill>
                        <a:srgbClr val="60F31A"/>
                      </a:solidFill>
                      <a:prstDash val="solid"/>
                      <a:round/>
                      <a:headEnd type="none" w="med" len="med"/>
                      <a:tailEnd type="none" w="med" len="med"/>
                    </a:lnR>
                    <a:lnT w="6350" cap="flat" cmpd="sng" algn="ctr">
                      <a:solidFill>
                        <a:srgbClr val="C0FC1A"/>
                      </a:solidFill>
                      <a:prstDash val="solid"/>
                      <a:round/>
                      <a:headEnd type="none" w="med" len="med"/>
                      <a:tailEnd type="none" w="med" len="med"/>
                    </a:lnT>
                    <a:lnB w="6350" cap="flat" cmpd="sng" algn="ctr">
                      <a:solidFill>
                        <a:srgbClr val="E0F01A"/>
                      </a:solidFill>
                      <a:prstDash val="solid"/>
                      <a:round/>
                      <a:headEnd type="none" w="med" len="med"/>
                      <a:tailEnd type="none" w="med" len="med"/>
                    </a:lnB>
                    <a:noFill/>
                  </a:tcPr>
                </a:tc>
                <a:tc>
                  <a:txBody>
                    <a:bodyPr/>
                    <a:lstStyle/>
                    <a:p>
                      <a:pPr algn="l" fontAlgn="t" latinLnBrk="0">
                        <a:buNone/>
                      </a:pPr>
                      <a:r>
                        <a:rPr lang="en-IN" sz="1700" b="0">
                          <a:effectLst/>
                        </a:rPr>
                        <a:t>Details</a:t>
                      </a:r>
                    </a:p>
                  </a:txBody>
                  <a:tcPr marL="48881" marR="48881" marT="48881" marB="48881">
                    <a:lnL w="6350" cap="flat" cmpd="sng" algn="ctr">
                      <a:solidFill>
                        <a:srgbClr val="60F31A"/>
                      </a:solidFill>
                      <a:prstDash val="solid"/>
                      <a:round/>
                      <a:headEnd type="none" w="med" len="med"/>
                      <a:tailEnd type="none" w="med" len="med"/>
                    </a:lnL>
                    <a:lnR w="6350" cap="flat" cmpd="sng" algn="ctr">
                      <a:solidFill>
                        <a:srgbClr val="60F31A"/>
                      </a:solidFill>
                      <a:prstDash val="solid"/>
                      <a:round/>
                      <a:headEnd type="none" w="med" len="med"/>
                      <a:tailEnd type="none" w="med" len="med"/>
                    </a:lnR>
                    <a:lnT w="6350" cap="flat" cmpd="sng" algn="ctr">
                      <a:solidFill>
                        <a:srgbClr val="60F31A"/>
                      </a:solidFill>
                      <a:prstDash val="solid"/>
                      <a:round/>
                      <a:headEnd type="none" w="med" len="med"/>
                      <a:tailEnd type="none" w="med" len="med"/>
                    </a:lnT>
                    <a:lnB w="6350" cap="flat" cmpd="sng" algn="ctr">
                      <a:solidFill>
                        <a:srgbClr val="50F41A"/>
                      </a:solidFill>
                      <a:prstDash val="solid"/>
                      <a:round/>
                      <a:headEnd type="none" w="med" len="med"/>
                      <a:tailEnd type="none" w="med" len="med"/>
                    </a:lnB>
                    <a:noFill/>
                  </a:tcPr>
                </a:tc>
                <a:extLst>
                  <a:ext uri="{0D108BD9-81ED-4DB2-BD59-A6C34878D82A}">
                    <a16:rowId xmlns:a16="http://schemas.microsoft.com/office/drawing/2014/main" val="3063314969"/>
                  </a:ext>
                </a:extLst>
              </a:tr>
              <a:tr h="380672">
                <a:tc>
                  <a:txBody>
                    <a:bodyPr/>
                    <a:lstStyle/>
                    <a:p>
                      <a:pPr fontAlgn="base" latinLnBrk="0">
                        <a:buNone/>
                      </a:pPr>
                      <a:r>
                        <a:rPr lang="en-IN" sz="1700">
                          <a:effectLst/>
                        </a:rPr>
                        <a:t>Programming Language</a:t>
                      </a:r>
                    </a:p>
                  </a:txBody>
                  <a:tcPr marL="48881" marR="48881" marT="43993" marB="43993" anchor="ctr">
                    <a:lnL w="6350" cap="flat" cmpd="sng" algn="ctr">
                      <a:solidFill>
                        <a:srgbClr val="E0F01A"/>
                      </a:solidFill>
                      <a:prstDash val="solid"/>
                      <a:round/>
                      <a:headEnd type="none" w="med" len="med"/>
                      <a:tailEnd type="none" w="med" len="med"/>
                    </a:lnL>
                    <a:lnR w="6350" cap="flat" cmpd="sng" algn="ctr">
                      <a:solidFill>
                        <a:srgbClr val="50F41A"/>
                      </a:solidFill>
                      <a:prstDash val="solid"/>
                      <a:round/>
                      <a:headEnd type="none" w="med" len="med"/>
                      <a:tailEnd type="none" w="med" len="med"/>
                    </a:lnR>
                    <a:lnT w="6350" cap="flat" cmpd="sng" algn="ctr">
                      <a:solidFill>
                        <a:srgbClr val="E0F01A"/>
                      </a:solidFill>
                      <a:prstDash val="solid"/>
                      <a:round/>
                      <a:headEnd type="none" w="med" len="med"/>
                      <a:tailEnd type="none" w="med" len="med"/>
                    </a:lnT>
                    <a:lnB w="6350" cap="flat" cmpd="sng" algn="ctr">
                      <a:solidFill>
                        <a:srgbClr val="60EE1A"/>
                      </a:solidFill>
                      <a:prstDash val="solid"/>
                      <a:round/>
                      <a:headEnd type="none" w="med" len="med"/>
                      <a:tailEnd type="none" w="med" len="med"/>
                    </a:lnB>
                    <a:noFill/>
                  </a:tcPr>
                </a:tc>
                <a:tc>
                  <a:txBody>
                    <a:bodyPr/>
                    <a:lstStyle/>
                    <a:p>
                      <a:pPr fontAlgn="base" latinLnBrk="0">
                        <a:buNone/>
                      </a:pPr>
                      <a:r>
                        <a:rPr lang="en-IN" sz="1700">
                          <a:effectLst/>
                        </a:rPr>
                        <a:t>Python 3.10</a:t>
                      </a:r>
                    </a:p>
                  </a:txBody>
                  <a:tcPr marL="48881" marR="48881" marT="43993" marB="43993" anchor="ctr">
                    <a:lnL w="6350" cap="flat" cmpd="sng" algn="ctr">
                      <a:solidFill>
                        <a:srgbClr val="50F41A"/>
                      </a:solidFill>
                      <a:prstDash val="solid"/>
                      <a:round/>
                      <a:headEnd type="none" w="med" len="med"/>
                      <a:tailEnd type="none" w="med" len="med"/>
                    </a:lnL>
                    <a:lnR w="6350" cap="flat" cmpd="sng" algn="ctr">
                      <a:solidFill>
                        <a:srgbClr val="50F41A"/>
                      </a:solidFill>
                      <a:prstDash val="solid"/>
                      <a:round/>
                      <a:headEnd type="none" w="med" len="med"/>
                      <a:tailEnd type="none" w="med" len="med"/>
                    </a:lnR>
                    <a:lnT w="6350" cap="flat" cmpd="sng" algn="ctr">
                      <a:solidFill>
                        <a:srgbClr val="50F41A"/>
                      </a:solidFill>
                      <a:prstDash val="solid"/>
                      <a:round/>
                      <a:headEnd type="none" w="med" len="med"/>
                      <a:tailEnd type="none" w="med" len="med"/>
                    </a:lnT>
                    <a:lnB w="6350" cap="flat" cmpd="sng" algn="ctr">
                      <a:solidFill>
                        <a:srgbClr val="90F01A"/>
                      </a:solidFill>
                      <a:prstDash val="solid"/>
                      <a:round/>
                      <a:headEnd type="none" w="med" len="med"/>
                      <a:tailEnd type="none" w="med" len="med"/>
                    </a:lnB>
                    <a:noFill/>
                  </a:tcPr>
                </a:tc>
                <a:extLst>
                  <a:ext uri="{0D108BD9-81ED-4DB2-BD59-A6C34878D82A}">
                    <a16:rowId xmlns:a16="http://schemas.microsoft.com/office/drawing/2014/main" val="2104994900"/>
                  </a:ext>
                </a:extLst>
              </a:tr>
              <a:tr h="511035">
                <a:tc>
                  <a:txBody>
                    <a:bodyPr/>
                    <a:lstStyle/>
                    <a:p>
                      <a:pPr fontAlgn="base" latinLnBrk="0">
                        <a:buNone/>
                      </a:pPr>
                      <a:r>
                        <a:rPr lang="en-IN" sz="1700">
                          <a:effectLst/>
                        </a:rPr>
                        <a:t>Frameworks</a:t>
                      </a:r>
                    </a:p>
                  </a:txBody>
                  <a:tcPr marL="48881" marR="48881" marT="43993" marB="43993" anchor="ctr">
                    <a:lnL w="6350" cap="flat" cmpd="sng" algn="ctr">
                      <a:solidFill>
                        <a:srgbClr val="60EE1A"/>
                      </a:solidFill>
                      <a:prstDash val="solid"/>
                      <a:round/>
                      <a:headEnd type="none" w="med" len="med"/>
                      <a:tailEnd type="none" w="med" len="med"/>
                    </a:lnL>
                    <a:lnR w="6350" cap="flat" cmpd="sng" algn="ctr">
                      <a:solidFill>
                        <a:srgbClr val="90F01A"/>
                      </a:solidFill>
                      <a:prstDash val="solid"/>
                      <a:round/>
                      <a:headEnd type="none" w="med" len="med"/>
                      <a:tailEnd type="none" w="med" len="med"/>
                    </a:lnR>
                    <a:lnT w="6350" cap="flat" cmpd="sng" algn="ctr">
                      <a:solidFill>
                        <a:srgbClr val="60EE1A"/>
                      </a:solidFill>
                      <a:prstDash val="solid"/>
                      <a:round/>
                      <a:headEnd type="none" w="med" len="med"/>
                      <a:tailEnd type="none" w="med" len="med"/>
                    </a:lnT>
                    <a:lnB w="6350" cap="flat" cmpd="sng" algn="ctr">
                      <a:solidFill>
                        <a:srgbClr val="B0F81A"/>
                      </a:solidFill>
                      <a:prstDash val="solid"/>
                      <a:round/>
                      <a:headEnd type="none" w="med" len="med"/>
                      <a:tailEnd type="none" w="med" len="med"/>
                    </a:lnB>
                    <a:noFill/>
                  </a:tcPr>
                </a:tc>
                <a:tc>
                  <a:txBody>
                    <a:bodyPr/>
                    <a:lstStyle/>
                    <a:p>
                      <a:pPr fontAlgn="base" latinLnBrk="0">
                        <a:buNone/>
                      </a:pPr>
                      <a:r>
                        <a:rPr lang="en-IN" sz="1700">
                          <a:effectLst/>
                        </a:rPr>
                        <a:t>scikit-learn, LightGBM, OpenCV, Matplotlib</a:t>
                      </a:r>
                    </a:p>
                  </a:txBody>
                  <a:tcPr marL="48881" marR="48881" marT="43993" marB="43993" anchor="ctr">
                    <a:lnL w="6350" cap="flat" cmpd="sng" algn="ctr">
                      <a:solidFill>
                        <a:srgbClr val="90F01A"/>
                      </a:solidFill>
                      <a:prstDash val="solid"/>
                      <a:round/>
                      <a:headEnd type="none" w="med" len="med"/>
                      <a:tailEnd type="none" w="med" len="med"/>
                    </a:lnL>
                    <a:lnR w="6350" cap="flat" cmpd="sng" algn="ctr">
                      <a:solidFill>
                        <a:srgbClr val="90F01A"/>
                      </a:solidFill>
                      <a:prstDash val="solid"/>
                      <a:round/>
                      <a:headEnd type="none" w="med" len="med"/>
                      <a:tailEnd type="none" w="med" len="med"/>
                    </a:lnR>
                    <a:lnT w="6350" cap="flat" cmpd="sng" algn="ctr">
                      <a:solidFill>
                        <a:srgbClr val="90F01A"/>
                      </a:solidFill>
                      <a:prstDash val="solid"/>
                      <a:round/>
                      <a:headEnd type="none" w="med" len="med"/>
                      <a:tailEnd type="none" w="med" len="med"/>
                    </a:lnT>
                    <a:lnB w="6350" cap="flat" cmpd="sng" algn="ctr">
                      <a:solidFill>
                        <a:srgbClr val="F0EA1A"/>
                      </a:solidFill>
                      <a:prstDash val="solid"/>
                      <a:round/>
                      <a:headEnd type="none" w="med" len="med"/>
                      <a:tailEnd type="none" w="med" len="med"/>
                    </a:lnB>
                    <a:noFill/>
                  </a:tcPr>
                </a:tc>
                <a:extLst>
                  <a:ext uri="{0D108BD9-81ED-4DB2-BD59-A6C34878D82A}">
                    <a16:rowId xmlns:a16="http://schemas.microsoft.com/office/drawing/2014/main" val="2401372276"/>
                  </a:ext>
                </a:extLst>
              </a:tr>
              <a:tr h="949063">
                <a:tc>
                  <a:txBody>
                    <a:bodyPr/>
                    <a:lstStyle/>
                    <a:p>
                      <a:pPr fontAlgn="base" latinLnBrk="0">
                        <a:buNone/>
                      </a:pPr>
                      <a:r>
                        <a:rPr lang="en-IN" sz="1700">
                          <a:effectLst/>
                        </a:rPr>
                        <a:t>Hardware</a:t>
                      </a:r>
                    </a:p>
                  </a:txBody>
                  <a:tcPr marL="48881" marR="48881" marT="43993" marB="43993" anchor="ctr">
                    <a:lnL w="6350" cap="flat" cmpd="sng" algn="ctr">
                      <a:solidFill>
                        <a:srgbClr val="B0F81A"/>
                      </a:solidFill>
                      <a:prstDash val="solid"/>
                      <a:round/>
                      <a:headEnd type="none" w="med" len="med"/>
                      <a:tailEnd type="none" w="med" len="med"/>
                    </a:lnL>
                    <a:lnR w="6350" cap="flat" cmpd="sng" algn="ctr">
                      <a:solidFill>
                        <a:srgbClr val="F0EA1A"/>
                      </a:solidFill>
                      <a:prstDash val="solid"/>
                      <a:round/>
                      <a:headEnd type="none" w="med" len="med"/>
                      <a:tailEnd type="none" w="med" len="med"/>
                    </a:lnR>
                    <a:lnT w="6350" cap="flat" cmpd="sng" algn="ctr">
                      <a:solidFill>
                        <a:srgbClr val="B0F81A"/>
                      </a:solidFill>
                      <a:prstDash val="solid"/>
                      <a:round/>
                      <a:headEnd type="none" w="med" len="med"/>
                      <a:tailEnd type="none" w="med" len="med"/>
                    </a:lnT>
                    <a:lnB w="6350" cap="flat" cmpd="sng" algn="ctr">
                      <a:solidFill>
                        <a:srgbClr val="F0EA1A"/>
                      </a:solidFill>
                      <a:prstDash val="solid"/>
                      <a:round/>
                      <a:headEnd type="none" w="med" len="med"/>
                      <a:tailEnd type="none" w="med" len="med"/>
                    </a:lnB>
                    <a:noFill/>
                  </a:tcPr>
                </a:tc>
                <a:tc>
                  <a:txBody>
                    <a:bodyPr/>
                    <a:lstStyle/>
                    <a:p>
                      <a:pPr fontAlgn="base" latinLnBrk="0">
                        <a:buNone/>
                      </a:pPr>
                      <a:r>
                        <a:rPr lang="en-IN" sz="1700">
                          <a:effectLst/>
                        </a:rPr>
                        <a:t>Intel i5-12450H CPU, 8GB RAM, NVIDIA Tesla T4 GPU, Google Colab Cloud</a:t>
                      </a:r>
                    </a:p>
                  </a:txBody>
                  <a:tcPr marL="48881" marR="48881" marT="43993" marB="43993" anchor="ctr">
                    <a:lnL w="6350" cap="flat" cmpd="sng" algn="ctr">
                      <a:solidFill>
                        <a:srgbClr val="F0EA1A"/>
                      </a:solidFill>
                      <a:prstDash val="solid"/>
                      <a:round/>
                      <a:headEnd type="none" w="med" len="med"/>
                      <a:tailEnd type="none" w="med" len="med"/>
                    </a:lnL>
                    <a:lnR w="6350" cap="flat" cmpd="sng" algn="ctr">
                      <a:solidFill>
                        <a:srgbClr val="F0EA1A"/>
                      </a:solidFill>
                      <a:prstDash val="solid"/>
                      <a:round/>
                      <a:headEnd type="none" w="med" len="med"/>
                      <a:tailEnd type="none" w="med" len="med"/>
                    </a:lnR>
                    <a:lnT w="6350" cap="flat" cmpd="sng" algn="ctr">
                      <a:solidFill>
                        <a:srgbClr val="F0EA1A"/>
                      </a:solidFill>
                      <a:prstDash val="solid"/>
                      <a:round/>
                      <a:headEnd type="none" w="med" len="med"/>
                      <a:tailEnd type="none" w="med" len="med"/>
                    </a:lnT>
                    <a:lnB w="6350" cap="flat" cmpd="sng" algn="ctr">
                      <a:solidFill>
                        <a:srgbClr val="00F41A"/>
                      </a:solidFill>
                      <a:prstDash val="solid"/>
                      <a:round/>
                      <a:headEnd type="none" w="med" len="med"/>
                      <a:tailEnd type="none" w="med" len="med"/>
                    </a:lnB>
                    <a:noFill/>
                  </a:tcPr>
                </a:tc>
                <a:extLst>
                  <a:ext uri="{0D108BD9-81ED-4DB2-BD59-A6C34878D82A}">
                    <a16:rowId xmlns:a16="http://schemas.microsoft.com/office/drawing/2014/main" val="2223772325"/>
                  </a:ext>
                </a:extLst>
              </a:tr>
              <a:tr h="511035">
                <a:tc>
                  <a:txBody>
                    <a:bodyPr/>
                    <a:lstStyle/>
                    <a:p>
                      <a:pPr fontAlgn="base" latinLnBrk="0">
                        <a:buNone/>
                      </a:pPr>
                      <a:r>
                        <a:rPr lang="en-IN" sz="1700">
                          <a:effectLst/>
                        </a:rPr>
                        <a:t>OS/Platform</a:t>
                      </a:r>
                    </a:p>
                  </a:txBody>
                  <a:tcPr marL="48881" marR="48881" marT="43993" marB="43993" anchor="ctr">
                    <a:lnL w="6350" cap="flat" cmpd="sng" algn="ctr">
                      <a:solidFill>
                        <a:srgbClr val="F0EA1A"/>
                      </a:solidFill>
                      <a:prstDash val="solid"/>
                      <a:round/>
                      <a:headEnd type="none" w="med" len="med"/>
                      <a:tailEnd type="none" w="med" len="med"/>
                    </a:lnL>
                    <a:lnR w="6350" cap="flat" cmpd="sng" algn="ctr">
                      <a:solidFill>
                        <a:srgbClr val="00F41A"/>
                      </a:solidFill>
                      <a:prstDash val="solid"/>
                      <a:round/>
                      <a:headEnd type="none" w="med" len="med"/>
                      <a:tailEnd type="none" w="med" len="med"/>
                    </a:lnR>
                    <a:lnT w="6350" cap="flat" cmpd="sng" algn="ctr">
                      <a:solidFill>
                        <a:srgbClr val="F0EA1A"/>
                      </a:solidFill>
                      <a:prstDash val="solid"/>
                      <a:round/>
                      <a:headEnd type="none" w="med" len="med"/>
                      <a:tailEnd type="none" w="med" len="med"/>
                    </a:lnT>
                    <a:lnB w="6350" cap="flat" cmpd="sng" algn="ctr">
                      <a:solidFill>
                        <a:srgbClr val="F0EA1A"/>
                      </a:solidFill>
                      <a:prstDash val="solid"/>
                      <a:round/>
                      <a:headEnd type="none" w="med" len="med"/>
                      <a:tailEnd type="none" w="med" len="med"/>
                    </a:lnB>
                    <a:noFill/>
                  </a:tcPr>
                </a:tc>
                <a:tc>
                  <a:txBody>
                    <a:bodyPr/>
                    <a:lstStyle/>
                    <a:p>
                      <a:pPr fontAlgn="base" latinLnBrk="0">
                        <a:buNone/>
                      </a:pPr>
                      <a:r>
                        <a:rPr lang="en-US" sz="1700" dirty="0">
                          <a:effectLst/>
                        </a:rPr>
                        <a:t>Windows 11 x64, Google Colab (cloud)</a:t>
                      </a:r>
                    </a:p>
                  </a:txBody>
                  <a:tcPr marL="48881" marR="48881" marT="43993" marB="43993" anchor="ctr">
                    <a:lnL w="6350" cap="flat" cmpd="sng" algn="ctr">
                      <a:solidFill>
                        <a:srgbClr val="00F41A"/>
                      </a:solidFill>
                      <a:prstDash val="solid"/>
                      <a:round/>
                      <a:headEnd type="none" w="med" len="med"/>
                      <a:tailEnd type="none" w="med" len="med"/>
                    </a:lnL>
                    <a:lnR w="6350" cap="flat" cmpd="sng" algn="ctr">
                      <a:solidFill>
                        <a:srgbClr val="00F41A"/>
                      </a:solidFill>
                      <a:prstDash val="solid"/>
                      <a:round/>
                      <a:headEnd type="none" w="med" len="med"/>
                      <a:tailEnd type="none" w="med" len="med"/>
                    </a:lnR>
                    <a:lnT w="6350" cap="flat" cmpd="sng" algn="ctr">
                      <a:solidFill>
                        <a:srgbClr val="00F41A"/>
                      </a:solidFill>
                      <a:prstDash val="solid"/>
                      <a:round/>
                      <a:headEnd type="none" w="med" len="med"/>
                      <a:tailEnd type="none" w="med" len="med"/>
                    </a:lnT>
                    <a:lnB w="6350" cap="flat" cmpd="sng" algn="ctr">
                      <a:solidFill>
                        <a:srgbClr val="00F41A"/>
                      </a:solidFill>
                      <a:prstDash val="solid"/>
                      <a:round/>
                      <a:headEnd type="none" w="med" len="med"/>
                      <a:tailEnd type="none" w="med" len="med"/>
                    </a:lnB>
                    <a:noFill/>
                  </a:tcPr>
                </a:tc>
                <a:extLst>
                  <a:ext uri="{0D108BD9-81ED-4DB2-BD59-A6C34878D82A}">
                    <a16:rowId xmlns:a16="http://schemas.microsoft.com/office/drawing/2014/main" val="2118498674"/>
                  </a:ext>
                </a:extLst>
              </a:tr>
            </a:tbl>
          </a:graphicData>
        </a:graphic>
      </p:graphicFrame>
      <p:sp>
        <p:nvSpPr>
          <p:cNvPr id="5" name="Rectangle 1">
            <a:extLst>
              <a:ext uri="{FF2B5EF4-FFF2-40B4-BE49-F238E27FC236}">
                <a16:creationId xmlns:a16="http://schemas.microsoft.com/office/drawing/2014/main" id="{FA5F88C2-350F-F291-3A76-3BD8BE2FFC54}"/>
              </a:ext>
            </a:extLst>
          </p:cNvPr>
          <p:cNvSpPr>
            <a:spLocks noChangeArrowheads="1"/>
          </p:cNvSpPr>
          <p:nvPr/>
        </p:nvSpPr>
        <p:spPr bwMode="auto">
          <a:xfrm>
            <a:off x="533400" y="3671113"/>
            <a:ext cx="2156358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sz="2200"/>
              <a:t>1. 3. Frameworks and Tools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463805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58573F1-5CCA-C8B4-39ED-5AD937950F47}"/>
              </a:ext>
            </a:extLst>
          </p:cNvPr>
          <p:cNvSpPr>
            <a:spLocks noGrp="1"/>
          </p:cNvSpPr>
          <p:nvPr>
            <p:ph type="body" idx="1"/>
          </p:nvPr>
        </p:nvSpPr>
        <p:spPr>
          <a:xfrm>
            <a:off x="990600" y="838200"/>
            <a:ext cx="10515600" cy="5715000"/>
          </a:xfrm>
        </p:spPr>
        <p:txBody>
          <a:bodyPr/>
          <a:lstStyle/>
          <a:p>
            <a:r>
              <a:rPr sz="2200"/>
              <a:t>1. 4. Algorithms Used</a:t>
            </a:r>
          </a:p>
          <a:p>
            <a:r>
              <a:rPr sz="2200"/>
              <a:t>2. Random Forest (RF)</a:t>
            </a:r>
          </a:p>
          <a:p>
            <a:r>
              <a:rPr sz="2200"/>
              <a:t>3. Type: Ensemble method averaging multiple decision trees.</a:t>
            </a:r>
          </a:p>
          <a:p>
            <a:r>
              <a:rPr sz="2200"/>
              <a:t>4. Parameters:</a:t>
            </a:r>
          </a:p>
          <a:p>
            <a:endParaRPr lang="en-IN" dirty="0"/>
          </a:p>
        </p:txBody>
      </p:sp>
      <p:pic>
        <p:nvPicPr>
          <p:cNvPr id="5" name="Picture 4" descr="A screenshot of a math test&#10;&#10;AI-generated content may be incorrect.">
            <a:extLst>
              <a:ext uri="{FF2B5EF4-FFF2-40B4-BE49-F238E27FC236}">
                <a16:creationId xmlns:a16="http://schemas.microsoft.com/office/drawing/2014/main" id="{0A3D970F-FB1D-4575-1194-21A40CAD7E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677" y="2438400"/>
            <a:ext cx="10364646" cy="3815135"/>
          </a:xfrm>
          <a:prstGeom prst="rect">
            <a:avLst/>
          </a:prstGeom>
        </p:spPr>
      </p:pic>
    </p:spTree>
    <p:extLst>
      <p:ext uri="{BB962C8B-B14F-4D97-AF65-F5344CB8AC3E}">
        <p14:creationId xmlns:p14="http://schemas.microsoft.com/office/powerpoint/2010/main" val="431335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D10A751-9F4B-9A4A-3237-22B1FD0DADBC}"/>
              </a:ext>
            </a:extLst>
          </p:cNvPr>
          <p:cNvSpPr>
            <a:spLocks noGrp="1"/>
          </p:cNvSpPr>
          <p:nvPr>
            <p:ph type="body" idx="1"/>
          </p:nvPr>
        </p:nvSpPr>
        <p:spPr>
          <a:xfrm>
            <a:off x="685800" y="914400"/>
            <a:ext cx="10210800" cy="1531188"/>
          </a:xfrm>
        </p:spPr>
        <p:txBody>
          <a:bodyPr/>
          <a:lstStyle/>
          <a:p>
            <a:pPr marL="342900" indent="-342900">
              <a:buFont typeface="Wingdings" panose="05000000000000000000" pitchFamily="2" charset="2"/>
              <a:buChar char="Ø"/>
            </a:pPr>
            <a:r>
              <a:rPr sz="2200"/>
              <a:t>1. LightGBM:</a:t>
            </a:r>
          </a:p>
          <a:p>
            <a:r>
              <a:rPr sz="2200"/>
              <a:t>2.     Type: Gradient boosting decision trees for fast, scalable modeling.</a:t>
            </a:r>
          </a:p>
          <a:p>
            <a:r>
              <a:rPr sz="2200"/>
              <a:t>3.      Parameters:</a:t>
            </a:r>
            <a:endParaRPr lang="en-IN" sz="2400" dirty="0"/>
          </a:p>
          <a:p>
            <a:endParaRPr lang="en-US" dirty="0"/>
          </a:p>
        </p:txBody>
      </p:sp>
      <p:pic>
        <p:nvPicPr>
          <p:cNvPr id="5" name="Picture 4" descr="A screenshot of a math test&#10;&#10;AI-generated content may be incorrect.">
            <a:extLst>
              <a:ext uri="{FF2B5EF4-FFF2-40B4-BE49-F238E27FC236}">
                <a16:creationId xmlns:a16="http://schemas.microsoft.com/office/drawing/2014/main" id="{9D3E9CA4-B62A-4E8D-F24E-EEFACB6A9B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2209800"/>
            <a:ext cx="10231278" cy="3733800"/>
          </a:xfrm>
          <a:prstGeom prst="rect">
            <a:avLst/>
          </a:prstGeom>
        </p:spPr>
      </p:pic>
    </p:spTree>
    <p:extLst>
      <p:ext uri="{BB962C8B-B14F-4D97-AF65-F5344CB8AC3E}">
        <p14:creationId xmlns:p14="http://schemas.microsoft.com/office/powerpoint/2010/main" val="2077789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C9CFE27-080D-0C4B-2126-DC45E8329466}"/>
              </a:ext>
            </a:extLst>
          </p:cNvPr>
          <p:cNvSpPr>
            <a:spLocks noGrp="1"/>
          </p:cNvSpPr>
          <p:nvPr>
            <p:ph type="body" idx="1"/>
          </p:nvPr>
        </p:nvSpPr>
        <p:spPr>
          <a:xfrm>
            <a:off x="685800" y="762000"/>
            <a:ext cx="10591800" cy="2323713"/>
          </a:xfrm>
        </p:spPr>
        <p:txBody>
          <a:bodyPr/>
          <a:lstStyle/>
          <a:p>
            <a:r>
              <a:rPr sz="2200"/>
              <a:t>1. 5.Evaluation Metrics</a:t>
            </a:r>
          </a:p>
          <a:p>
            <a:pPr marL="342900" indent="-342900">
              <a:buFont typeface="Arial" panose="020B0604020202020204" pitchFamily="34" charset="0"/>
              <a:buChar char="•"/>
            </a:pPr>
            <a:r>
              <a:rPr sz="2200"/>
              <a:t>2.     Root Mean Square Error (RMSE):</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r>
              <a:rPr lang="en-US" sz="2200" dirty="0"/>
              <a:t>                      </a:t>
            </a:r>
          </a:p>
          <a:p>
            <a:br>
              <a:rPr lang="en-US" dirty="0"/>
            </a:br>
            <a:endParaRPr lang="en-IN" sz="2400" dirty="0"/>
          </a:p>
        </p:txBody>
      </p:sp>
      <p:pic>
        <p:nvPicPr>
          <p:cNvPr id="5" name="Picture 4" descr="A math equations and symbols&#10;&#10;AI-generated content may be incorrect.">
            <a:extLst>
              <a:ext uri="{FF2B5EF4-FFF2-40B4-BE49-F238E27FC236}">
                <a16:creationId xmlns:a16="http://schemas.microsoft.com/office/drawing/2014/main" id="{63F984FC-43AE-E75D-B44C-5B5211434F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4800" y="1600653"/>
            <a:ext cx="3715268" cy="11431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075F1685-074B-E353-C3A2-1BB411B3C4F8}"/>
                  </a:ext>
                </a:extLst>
              </p:cNvPr>
              <p:cNvSpPr txBox="1"/>
              <p:nvPr/>
            </p:nvSpPr>
            <p:spPr>
              <a:xfrm>
                <a:off x="685800" y="2986069"/>
                <a:ext cx="10515600" cy="461665"/>
              </a:xfrm>
              <a:prstGeom prst="rect">
                <a:avLst/>
              </a:prstGeom>
              <a:noFill/>
            </p:spPr>
            <p:txBody>
              <a:bodyPr wrap="square">
                <a:spAutoFit/>
              </a:bodyPr>
              <a:lstStyle/>
              <a:p>
                <a:pPr algn="l">
                  <a:buFont typeface="Arial" panose="020B0604020202020204" pitchFamily="34" charset="0"/>
                  <a:buChar char="•"/>
                </a:pPr>
                <a:r>
                  <a:rPr lang="en-IN" sz="2400" b="0" i="0" dirty="0">
                    <a:effectLst/>
                    <a:latin typeface="Times New Roman" panose="02020603050405020304" pitchFamily="18" charset="0"/>
                    <a:cs typeface="Times New Roman" panose="02020603050405020304" pitchFamily="18" charset="0"/>
                  </a:rPr>
                  <a:t>     Accuracy</a:t>
                </a:r>
                <a:r>
                  <a:rPr lang="en-IN" sz="2400" dirty="0">
                    <a:latin typeface="Times New Roman" panose="02020603050405020304" pitchFamily="18" charset="0"/>
                    <a:cs typeface="Times New Roman" panose="02020603050405020304" pitchFamily="18" charset="0"/>
                  </a:rPr>
                  <a:t> </a:t>
                </a:r>
                <a:r>
                  <a:rPr lang="en-IN" sz="2400" b="0" i="0" dirty="0">
                    <a:effectLst/>
                    <a:latin typeface="Times New Roman" panose="02020603050405020304" pitchFamily="18" charset="0"/>
                    <a:cs typeface="Times New Roman" panose="02020603050405020304" pitchFamily="18" charset="0"/>
                  </a:rPr>
                  <a:t>: </a:t>
                </a:r>
                <a14:m>
                  <m:oMath xmlns:m="http://schemas.openxmlformats.org/officeDocument/2006/math">
                    <m:r>
                      <m:rPr>
                        <m:nor/>
                      </m:rPr>
                      <a:rPr lang="en-IN" sz="2400" b="0">
                        <a:latin typeface="Times New Roman" panose="02020603050405020304" pitchFamily="18" charset="0"/>
                        <a:cs typeface="Times New Roman" panose="02020603050405020304" pitchFamily="18" charset="0"/>
                      </a:rPr>
                      <m:t>Accuracy</m:t>
                    </m:r>
                    <m:r>
                      <a:rPr lang="en-IN" sz="2400" b="0" i="0">
                        <a:latin typeface="Cambria Math" panose="02040503050406030204" pitchFamily="18" charset="0"/>
                      </a:rPr>
                      <m:t>=</m:t>
                    </m:r>
                    <m:sSup>
                      <m:sSupPr>
                        <m:ctrlPr>
                          <a:rPr lang="ar-AE" sz="2400" b="0" i="1">
                            <a:latin typeface="Cambria Math" panose="02040503050406030204" pitchFamily="18" charset="0"/>
                          </a:rPr>
                        </m:ctrlPr>
                      </m:sSupPr>
                      <m:e>
                        <m:r>
                          <a:rPr lang="ar-AE" sz="2400" b="0" i="1">
                            <a:latin typeface="Cambria Math" panose="02040503050406030204" pitchFamily="18" charset="0"/>
                          </a:rPr>
                          <m:t>𝑅</m:t>
                        </m:r>
                      </m:e>
                      <m:sup>
                        <m:r>
                          <a:rPr lang="ar-AE" sz="2400" b="0" i="0">
                            <a:latin typeface="Cambria Math" panose="02040503050406030204" pitchFamily="18" charset="0"/>
                          </a:rPr>
                          <m:t>2</m:t>
                        </m:r>
                      </m:sup>
                    </m:sSup>
                    <m:r>
                      <a:rPr lang="ar-AE" sz="2400" b="0" i="0">
                        <a:latin typeface="Cambria Math" panose="02040503050406030204" pitchFamily="18" charset="0"/>
                      </a:rPr>
                      <m:t>×</m:t>
                    </m:r>
                    <m:r>
                      <a:rPr lang="ar-AE" sz="2400" b="0" i="0">
                        <a:latin typeface="Cambria Math" panose="02040503050406030204" pitchFamily="18" charset="0"/>
                      </a:rPr>
                      <m:t>100</m:t>
                    </m:r>
                  </m:oMath>
                </a14:m>
                <a:endParaRPr lang="ar-AE" sz="2400" b="0" dirty="0">
                  <a:latin typeface="Times New Roman" panose="02020603050405020304" pitchFamily="18" charset="0"/>
                  <a:cs typeface="Times New Roman" panose="02020603050405020304" pitchFamily="18" charset="0"/>
                </a:endParaRPr>
              </a:p>
            </p:txBody>
          </p:sp>
        </mc:Choice>
        <mc:Fallback>
          <p:sp>
            <p:nvSpPr>
              <p:cNvPr id="7" name="TextBox 6">
                <a:extLst>
                  <a:ext uri="{FF2B5EF4-FFF2-40B4-BE49-F238E27FC236}">
                    <a16:creationId xmlns:a16="http://schemas.microsoft.com/office/drawing/2014/main" id="{075F1685-074B-E353-C3A2-1BB411B3C4F8}"/>
                  </a:ext>
                </a:extLst>
              </p:cNvPr>
              <p:cNvSpPr txBox="1">
                <a:spLocks noRot="1" noChangeAspect="1" noMove="1" noResize="1" noEditPoints="1" noAdjustHandles="1" noChangeArrowheads="1" noChangeShapeType="1" noTextEdit="1"/>
              </p:cNvSpPr>
              <p:nvPr/>
            </p:nvSpPr>
            <p:spPr>
              <a:xfrm>
                <a:off x="685800" y="2986069"/>
                <a:ext cx="10515600" cy="461665"/>
              </a:xfrm>
              <a:prstGeom prst="rect">
                <a:avLst/>
              </a:prstGeom>
              <a:blipFill>
                <a:blip r:embed="rId3"/>
                <a:stretch>
                  <a:fillRect l="-812" t="-10526" b="-28947"/>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B2DFBFB9-70AF-E5AB-9E42-24430C3928C5}"/>
                  </a:ext>
                </a:extLst>
              </p:cNvPr>
              <p:cNvSpPr txBox="1"/>
              <p:nvPr/>
            </p:nvSpPr>
            <p:spPr>
              <a:xfrm>
                <a:off x="682752" y="3810000"/>
                <a:ext cx="6627114" cy="2123658"/>
              </a:xfrm>
              <a:prstGeom prst="rect">
                <a:avLst/>
              </a:prstGeom>
              <a:noFill/>
            </p:spPr>
            <p:txBody>
              <a:bodyPr wrap="square">
                <a:spAutoFit/>
              </a:bodyPr>
              <a:lstStyle/>
              <a:p>
                <a:pPr marL="342900" indent="-342900">
                  <a:buFont typeface="Arial" panose="020B0604020202020204" pitchFamily="34" charset="0"/>
                  <a:buChar char="•"/>
                </a:pPr>
                <a:r>
                  <a:rPr lang="en-IN" sz="2400" b="0" i="0" dirty="0">
                    <a:effectLst/>
                    <a:latin typeface="Times New Roman" panose="02020603050405020304" pitchFamily="18" charset="0"/>
                    <a:cs typeface="Times New Roman" panose="02020603050405020304" pitchFamily="18" charset="0"/>
                  </a:rPr>
                  <a:t> Coefficient of Determination </a:t>
                </a:r>
                <a:r>
                  <a:rPr lang="en-IN" sz="2400" dirty="0">
                    <a:latin typeface="Times New Roman" panose="02020603050405020304" pitchFamily="18" charset="0"/>
                    <a:cs typeface="Times New Roman" panose="02020603050405020304" pitchFamily="18" charset="0"/>
                  </a:rPr>
                  <a:t>(</a:t>
                </a:r>
                <a14:m>
                  <m:oMath xmlns:m="http://schemas.openxmlformats.org/officeDocument/2006/math">
                    <m:sSup>
                      <m:sSupPr>
                        <m:ctrlPr>
                          <a:rPr lang="en-IN" sz="2400" b="0" i="1" smtClean="0">
                            <a:effectLst/>
                            <a:latin typeface="Cambria Math" panose="02040503050406030204" pitchFamily="18" charset="0"/>
                            <a:cs typeface="Times New Roman" panose="02020603050405020304" pitchFamily="18" charset="0"/>
                          </a:rPr>
                        </m:ctrlPr>
                      </m:sSupPr>
                      <m:e>
                        <m:r>
                          <a:rPr lang="en-IN" sz="2400" b="0" i="1" smtClean="0">
                            <a:effectLst/>
                            <a:latin typeface="Cambria Math" panose="02040503050406030204" pitchFamily="18" charset="0"/>
                            <a:cs typeface="Times New Roman" panose="02020603050405020304" pitchFamily="18" charset="0"/>
                          </a:rPr>
                          <m:t>𝑅</m:t>
                        </m:r>
                      </m:e>
                      <m:sup>
                        <m:r>
                          <a:rPr lang="en-IN" sz="2400" b="0" i="1" smtClean="0">
                            <a:effectLst/>
                            <a:latin typeface="Cambria Math" panose="02040503050406030204" pitchFamily="18" charset="0"/>
                            <a:cs typeface="Times New Roman" panose="02020603050405020304" pitchFamily="18" charset="0"/>
                          </a:rPr>
                          <m:t>2</m:t>
                        </m:r>
                      </m:sup>
                    </m:sSup>
                  </m:oMath>
                </a14:m>
                <a:r>
                  <a:rPr lang="en-IN" dirty="0"/>
                  <a:t>) :</a:t>
                </a:r>
              </a:p>
              <a:p>
                <a:endParaRPr lang="en-IN" dirty="0"/>
              </a:p>
              <a:p>
                <a:endParaRPr lang="en-IN" dirty="0"/>
              </a:p>
              <a:p>
                <a:endParaRPr lang="en-IN" dirty="0"/>
              </a:p>
              <a:p>
                <a:endParaRPr lang="en-IN" dirty="0"/>
              </a:p>
              <a:p>
                <a:endParaRPr lang="en-IN" dirty="0"/>
              </a:p>
              <a:p>
                <a:endParaRPr lang="en-IN" dirty="0"/>
              </a:p>
            </p:txBody>
          </p:sp>
        </mc:Choice>
        <mc:Fallback>
          <p:sp>
            <p:nvSpPr>
              <p:cNvPr id="11" name="TextBox 10">
                <a:extLst>
                  <a:ext uri="{FF2B5EF4-FFF2-40B4-BE49-F238E27FC236}">
                    <a16:creationId xmlns:a16="http://schemas.microsoft.com/office/drawing/2014/main" id="{B2DFBFB9-70AF-E5AB-9E42-24430C3928C5}"/>
                  </a:ext>
                </a:extLst>
              </p:cNvPr>
              <p:cNvSpPr txBox="1">
                <a:spLocks noRot="1" noChangeAspect="1" noMove="1" noResize="1" noEditPoints="1" noAdjustHandles="1" noChangeArrowheads="1" noChangeShapeType="1" noTextEdit="1"/>
              </p:cNvSpPr>
              <p:nvPr/>
            </p:nvSpPr>
            <p:spPr>
              <a:xfrm>
                <a:off x="682752" y="3810000"/>
                <a:ext cx="6627114" cy="2123658"/>
              </a:xfrm>
              <a:prstGeom prst="rect">
                <a:avLst/>
              </a:prstGeom>
              <a:blipFill>
                <a:blip r:embed="rId4"/>
                <a:stretch>
                  <a:fillRect l="-1196" t="-2299"/>
                </a:stretch>
              </a:blipFill>
            </p:spPr>
            <p:txBody>
              <a:bodyPr/>
              <a:lstStyle/>
              <a:p>
                <a:r>
                  <a:rPr lang="en-IN">
                    <a:noFill/>
                  </a:rPr>
                  <a:t> </a:t>
                </a:r>
              </a:p>
            </p:txBody>
          </p:sp>
        </mc:Fallback>
      </mc:AlternateContent>
      <p:pic>
        <p:nvPicPr>
          <p:cNvPr id="13" name="Picture 12" descr="A black and white math equation&#10;&#10;AI-generated content may be incorrect.">
            <a:extLst>
              <a:ext uri="{FF2B5EF4-FFF2-40B4-BE49-F238E27FC236}">
                <a16:creationId xmlns:a16="http://schemas.microsoft.com/office/drawing/2014/main" id="{7BE3AF3A-8225-AE65-E9F5-D32D196242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38600" y="4405038"/>
            <a:ext cx="3886199" cy="1157561"/>
          </a:xfrm>
          <a:prstGeom prst="rect">
            <a:avLst/>
          </a:prstGeom>
        </p:spPr>
      </p:pic>
    </p:spTree>
    <p:extLst>
      <p:ext uri="{BB962C8B-B14F-4D97-AF65-F5344CB8AC3E}">
        <p14:creationId xmlns:p14="http://schemas.microsoft.com/office/powerpoint/2010/main" val="73198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62889" rIns="0" bIns="0" rtlCol="0">
            <a:spAutoFit/>
          </a:bodyPr>
          <a:lstStyle/>
          <a:p>
            <a:r>
              <a:rPr sz="2200"/>
              <a:t>21. IMPLEMENTATION</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z="2200"/>
              <a:t>1. 19-12-2024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z="2200"/>
              <a:t>1. Batch 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z="2200"/>
              <a:t>1. 21</a:t>
            </a:r>
            <a:endParaRPr spc="-25" dirty="0"/>
          </a:p>
        </p:txBody>
      </p:sp>
      <p:sp>
        <p:nvSpPr>
          <p:cNvPr id="10" name="TextBox 9">
            <a:extLst>
              <a:ext uri="{FF2B5EF4-FFF2-40B4-BE49-F238E27FC236}">
                <a16:creationId xmlns:a16="http://schemas.microsoft.com/office/drawing/2014/main" id="{869F73D4-7CAD-6EE1-CDE2-98744245F393}"/>
              </a:ext>
            </a:extLst>
          </p:cNvPr>
          <p:cNvSpPr txBox="1"/>
          <p:nvPr/>
        </p:nvSpPr>
        <p:spPr>
          <a:xfrm>
            <a:off x="1143000" y="1492612"/>
            <a:ext cx="10436224" cy="4154984"/>
          </a:xfrm>
          <a:prstGeom prst="rect">
            <a:avLst/>
          </a:prstGeom>
          <a:noFill/>
        </p:spPr>
        <p:txBody>
          <a:bodyPr wrap="square">
            <a:spAutoFit/>
          </a:bodyPr>
          <a:lstStyle/>
          <a:p>
            <a:pPr algn="l">
              <a:buNone/>
            </a:pPr>
            <a:r>
              <a:rPr sz="2200"/>
              <a:t>1. Software Specifications</a:t>
            </a:r>
          </a:p>
          <a:p>
            <a:pPr algn="l">
              <a:buFont typeface="Arial" panose="020B0604020202020204" pitchFamily="34" charset="0"/>
              <a:buChar char="•"/>
            </a:pPr>
            <a:r>
              <a:rPr sz="2200"/>
              <a:t>2. Programming Language: Python 3.10</a:t>
            </a:r>
          </a:p>
          <a:p>
            <a:pPr algn="l">
              <a:buFont typeface="Arial" panose="020B0604020202020204" pitchFamily="34" charset="0"/>
              <a:buChar char="•"/>
            </a:pPr>
            <a:r>
              <a:rPr sz="2200"/>
              <a:t>3. Libraries/Frameworks:</a:t>
            </a:r>
          </a:p>
          <a:p>
            <a:pPr marL="742950" lvl="1" indent="-285750" algn="l">
              <a:buFont typeface="Arial" panose="020B0604020202020204" pitchFamily="34" charset="0"/>
              <a:buChar char="•"/>
            </a:pPr>
            <a:r>
              <a:rPr sz="2200"/>
              <a:t>4. scikit-learn (for ML algorithms, model training, evaluation)</a:t>
            </a:r>
          </a:p>
          <a:p>
            <a:pPr marL="742950" lvl="1" indent="-285750" algn="l">
              <a:buFont typeface="Arial" panose="020B0604020202020204" pitchFamily="34" charset="0"/>
              <a:buChar char="•"/>
            </a:pPr>
            <a:r>
              <a:rPr sz="2200"/>
              <a:t>5. LightGBM (high-speed gradient boosting implementation)</a:t>
            </a:r>
          </a:p>
          <a:p>
            <a:pPr marL="742950" lvl="1" indent="-285750" algn="l">
              <a:buFont typeface="Arial" panose="020B0604020202020204" pitchFamily="34" charset="0"/>
              <a:buChar char="•"/>
            </a:pPr>
            <a:r>
              <a:rPr sz="2200"/>
              <a:t>6. OpenCV (image processing, if needed)</a:t>
            </a:r>
          </a:p>
          <a:p>
            <a:pPr marL="742950" lvl="1" indent="-285750" algn="l">
              <a:buFont typeface="Arial" panose="020B0604020202020204" pitchFamily="34" charset="0"/>
              <a:buChar char="•"/>
            </a:pPr>
            <a:r>
              <a:rPr sz="2200"/>
              <a:t>7. Matplotlib (data visualization)</a:t>
            </a:r>
          </a:p>
          <a:p>
            <a:pPr algn="l">
              <a:buFont typeface="Arial" panose="020B0604020202020204" pitchFamily="34" charset="0"/>
              <a:buChar char="•"/>
            </a:pPr>
            <a:r>
              <a:rPr sz="2200"/>
              <a:t>8. Development Platforms:</a:t>
            </a:r>
          </a:p>
          <a:p>
            <a:pPr marL="742950" lvl="1" indent="-285750" algn="l">
              <a:buFont typeface="Arial" panose="020B0604020202020204" pitchFamily="34" charset="0"/>
              <a:buChar char="•"/>
            </a:pPr>
            <a:r>
              <a:rPr sz="2200"/>
              <a:t>9. Local system (Windows 11 x64)</a:t>
            </a:r>
          </a:p>
          <a:p>
            <a:pPr marL="742950" lvl="1" indent="-285750" algn="l">
              <a:buFont typeface="Arial" panose="020B0604020202020204" pitchFamily="34" charset="0"/>
              <a:buChar char="•"/>
            </a:pPr>
            <a:r>
              <a:rPr sz="2200"/>
              <a:t>10. Google Colab (cloud GPU processing, scalable training)</a:t>
            </a:r>
          </a:p>
          <a:p>
            <a:pPr algn="l">
              <a:buFont typeface="Arial" panose="020B0604020202020204" pitchFamily="34" charset="0"/>
              <a:buChar char="•"/>
            </a:pPr>
            <a:r>
              <a:rPr sz="2200"/>
              <a:t>11. Jupyter Notebook used for structuring code, experiments, and logging outputs.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8E52583-CB2C-75FF-ACD8-71A9EE34B3F1}"/>
              </a:ext>
            </a:extLst>
          </p:cNvPr>
          <p:cNvSpPr>
            <a:spLocks noGrp="1"/>
          </p:cNvSpPr>
          <p:nvPr>
            <p:ph type="body" idx="1"/>
          </p:nvPr>
        </p:nvSpPr>
        <p:spPr>
          <a:xfrm>
            <a:off x="917574" y="762000"/>
            <a:ext cx="10360025" cy="5791200"/>
          </a:xfrm>
        </p:spPr>
        <p:txBody>
          <a:bodyPr/>
          <a:lstStyle/>
          <a:p>
            <a:pPr algn="l">
              <a:buNone/>
            </a:pPr>
            <a:r>
              <a:rPr sz="2200"/>
              <a:t>1. Hardware Specifications</a:t>
            </a:r>
          </a:p>
          <a:p>
            <a:pPr algn="l">
              <a:buFont typeface="Arial" panose="020B0604020202020204" pitchFamily="34" charset="0"/>
              <a:buChar char="•"/>
            </a:pPr>
            <a:r>
              <a:rPr sz="2200"/>
              <a:t>2. CPU: Intel i5-12450H (12th Gen), 8GB RAM</a:t>
            </a:r>
          </a:p>
          <a:p>
            <a:pPr algn="l">
              <a:buFont typeface="Arial" panose="020B0604020202020204" pitchFamily="34" charset="0"/>
              <a:buChar char="•"/>
            </a:pPr>
            <a:r>
              <a:rPr sz="2200"/>
              <a:t>3. GPU: NVIDIA Tesla T4 (16 GB VRAM, accessed via Google Colab)</a:t>
            </a:r>
          </a:p>
          <a:p>
            <a:pPr algn="l">
              <a:buFont typeface="Arial" panose="020B0604020202020204" pitchFamily="34" charset="0"/>
              <a:buChar char="•"/>
            </a:pPr>
            <a:r>
              <a:rPr sz="2200"/>
              <a:t>4. Storage: Sufficient local and cloud resources for dataset (64,000 samples, 11 attributes)</a:t>
            </a:r>
          </a:p>
          <a:p>
            <a:pPr algn="l">
              <a:buFont typeface="Arial" panose="020B0604020202020204" pitchFamily="34" charset="0"/>
              <a:buChar char="•"/>
            </a:pPr>
            <a:r>
              <a:rPr sz="2200"/>
              <a:t>5. Environment: Windows 11 (local), Linux-based (Colab cloud GPU)</a:t>
            </a:r>
          </a:p>
        </p:txBody>
      </p:sp>
    </p:spTree>
    <p:extLst>
      <p:ext uri="{BB962C8B-B14F-4D97-AF65-F5344CB8AC3E}">
        <p14:creationId xmlns:p14="http://schemas.microsoft.com/office/powerpoint/2010/main" val="213836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B9AE38E-BF17-6B44-6860-FD970B32A2F2}"/>
              </a:ext>
            </a:extLst>
          </p:cNvPr>
          <p:cNvSpPr>
            <a:spLocks noGrp="1"/>
          </p:cNvSpPr>
          <p:nvPr>
            <p:ph type="body" idx="1"/>
          </p:nvPr>
        </p:nvSpPr>
        <p:spPr>
          <a:xfrm>
            <a:off x="1143000" y="609600"/>
            <a:ext cx="10363200" cy="5963171"/>
          </a:xfrm>
        </p:spPr>
        <p:txBody>
          <a:bodyPr/>
          <a:lstStyle/>
          <a:p>
            <a:r>
              <a:rPr sz="2200"/>
              <a:t>1. Project Implementation Steps</a:t>
            </a:r>
          </a:p>
          <a:p>
            <a:r>
              <a:rPr sz="2200"/>
              <a:t>2. Data Preparation : Gathered historical and synthetic cotton yield records with key variables—accumulated heat, soil type, cultivar, nitrogen application.</a:t>
            </a:r>
          </a:p>
          <a:p>
            <a:endParaRPr lang="en-IN" sz="2400" dirty="0"/>
          </a:p>
          <a:p>
            <a:r>
              <a:rPr sz="2200"/>
              <a:t>4. Preprocessing : Outlier removal, categorical encoding, dataset balancing (see methodology).</a:t>
            </a:r>
          </a:p>
          <a:p>
            <a:endParaRPr lang="en-IN" sz="2400" dirty="0"/>
          </a:p>
          <a:p>
            <a:r>
              <a:rPr sz="2200"/>
              <a:t>6. Model Training : Built and tuned Random Forest and LightGBM models using scikit-learn &amp; LightGBM libraries.</a:t>
            </a:r>
          </a:p>
          <a:p>
            <a:endParaRPr lang="en-IN" sz="2400" dirty="0"/>
          </a:p>
          <a:p>
            <a:r>
              <a:rPr sz="2200"/>
              <a:t>8. Validation : Performed cross-validation, parameter tuning, and compared results using RMSE, R², Accuracy metrics.</a:t>
            </a:r>
          </a:p>
          <a:p>
            <a:endParaRPr lang="en-IN" sz="2400" dirty="0"/>
          </a:p>
          <a:p>
            <a:r>
              <a:rPr sz="2200"/>
              <a:t>10. Deployment : Final models validated on new data and made ready for integration in climate-smart decision support.</a:t>
            </a:r>
          </a:p>
          <a:p>
            <a:endParaRPr lang="en-IN" dirty="0"/>
          </a:p>
        </p:txBody>
      </p:sp>
    </p:spTree>
    <p:extLst>
      <p:ext uri="{BB962C8B-B14F-4D97-AF65-F5344CB8AC3E}">
        <p14:creationId xmlns:p14="http://schemas.microsoft.com/office/powerpoint/2010/main" val="1744166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7899F9ED-64BB-2B76-A251-341B53395F77}"/>
              </a:ext>
            </a:extLst>
          </p:cNvPr>
          <p:cNvSpPr>
            <a:spLocks noGrp="1"/>
          </p:cNvSpPr>
          <p:nvPr>
            <p:ph type="body" idx="1"/>
          </p:nvPr>
        </p:nvSpPr>
        <p:spPr/>
        <p:txBody>
          <a:bodyPr/>
          <a:lstStyle/>
          <a:p>
            <a:endParaRPr lang="en-IN" dirty="0"/>
          </a:p>
        </p:txBody>
      </p:sp>
      <p:pic>
        <p:nvPicPr>
          <p:cNvPr id="13" name="Picture 12" descr="A diagram of different types of data&#10;&#10;AI-generated content may be incorrect.">
            <a:extLst>
              <a:ext uri="{FF2B5EF4-FFF2-40B4-BE49-F238E27FC236}">
                <a16:creationId xmlns:a16="http://schemas.microsoft.com/office/drawing/2014/main" id="{663CEE07-34F8-9010-4B96-92A7CCEC8B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4" y="613881"/>
            <a:ext cx="12192000" cy="6244119"/>
          </a:xfrm>
          <a:prstGeom prst="rect">
            <a:avLst/>
          </a:prstGeom>
        </p:spPr>
      </p:pic>
    </p:spTree>
    <p:extLst>
      <p:ext uri="{BB962C8B-B14F-4D97-AF65-F5344CB8AC3E}">
        <p14:creationId xmlns:p14="http://schemas.microsoft.com/office/powerpoint/2010/main" val="40524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62889" rIns="0" bIns="0" rtlCol="0">
            <a:spAutoFit/>
          </a:bodyPr>
          <a:lstStyle/>
          <a:p>
            <a:r>
              <a:rPr sz="2200"/>
              <a:t>25. RESULTS &amp; ANALYSIS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z="2200"/>
              <a:t>1. 19-12-2024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z="2200"/>
              <a:t>1. Batch 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z="2200"/>
              <a:t>1. 25</a:t>
            </a:r>
            <a:endParaRPr spc="-25" dirty="0"/>
          </a:p>
        </p:txBody>
      </p:sp>
      <p:pic>
        <p:nvPicPr>
          <p:cNvPr id="12" name="Picture 11" descr="A graph of different colored bars&#10;&#10;AI-generated content may be incorrect.">
            <a:extLst>
              <a:ext uri="{FF2B5EF4-FFF2-40B4-BE49-F238E27FC236}">
                <a16:creationId xmlns:a16="http://schemas.microsoft.com/office/drawing/2014/main" id="{5EFB979D-2008-225F-EBD3-4E70C922AC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19200"/>
            <a:ext cx="12192000" cy="51816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6AC7C7-B116-0925-9E69-BD068B8D6C4B}"/>
              </a:ext>
            </a:extLst>
          </p:cNvPr>
          <p:cNvSpPr>
            <a:spLocks noGrp="1"/>
          </p:cNvSpPr>
          <p:nvPr>
            <p:ph type="body" idx="1"/>
          </p:nvPr>
        </p:nvSpPr>
        <p:spPr>
          <a:xfrm>
            <a:off x="917574" y="914400"/>
            <a:ext cx="10436225" cy="5224507"/>
          </a:xfrm>
        </p:spPr>
        <p:txBody>
          <a:bodyPr/>
          <a:lstStyle/>
          <a:p>
            <a:pPr marL="342900" indent="-342900">
              <a:buFont typeface="Arial" panose="020B0604020202020204" pitchFamily="34" charset="0"/>
              <a:buChar char="•"/>
            </a:pPr>
            <a:r>
              <a:rPr sz="2200"/>
              <a:t>1. The performance of the two main models (Random Forest and LightGBM) was compared using key metrics: Accuracy, RMSE (Root Mean Square Error), and R² (Coefficient of Determination) using a large, balanced cotton yield dataset.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sz="2200"/>
              <a:t>3. LightGBM showed superior results with a higher accuracy (99.30%), lower error (RMSE 2.711), and higher R² (0.9930) versus Random Forest (accuracy 97.93%, RMSE 4.668, R² 0.9793).</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sz="2200"/>
              <a:t>5. The bar chart below highlights these comparisons visually for easy interpretation and presentation.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sz="2200"/>
              <a:t>7. Performance comparison of Random Forest and LightGBM models for cotton yield prediction.</a:t>
            </a:r>
          </a:p>
          <a:p>
            <a:endParaRPr lang="en-IN" dirty="0"/>
          </a:p>
        </p:txBody>
      </p:sp>
    </p:spTree>
    <p:extLst>
      <p:ext uri="{BB962C8B-B14F-4D97-AF65-F5344CB8AC3E}">
        <p14:creationId xmlns:p14="http://schemas.microsoft.com/office/powerpoint/2010/main" val="28445064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62889" rIns="0" bIns="0" rtlCol="0">
            <a:spAutoFit/>
          </a:bodyPr>
          <a:lstStyle/>
          <a:p>
            <a:r>
              <a:rPr sz="2200"/>
              <a:t>27. CONCLUSION and FUTURE SCOPE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z="2200"/>
              <a:t>1. 19-12-2024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z="2200"/>
              <a:t>1. Batch 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z="2200"/>
              <a:t>1. 27</a:t>
            </a:r>
            <a:endParaRPr spc="-25" dirty="0"/>
          </a:p>
        </p:txBody>
      </p:sp>
      <mc:AlternateContent xmlns:mc="http://schemas.openxmlformats.org/markup-compatibility/2006">
        <mc:Choice xmlns:a14="http://schemas.microsoft.com/office/drawing/2010/main" Requires="a14">
          <p:sp>
            <p:nvSpPr>
              <p:cNvPr id="3" name="object 3"/>
              <p:cNvSpPr txBox="1">
                <a:spLocks noGrp="1"/>
              </p:cNvSpPr>
              <p:nvPr>
                <p:ph type="body" idx="1"/>
              </p:nvPr>
            </p:nvSpPr>
            <p:spPr>
              <a:xfrm>
                <a:off x="917574" y="1730872"/>
                <a:ext cx="10512425" cy="3063018"/>
              </a:xfrm>
              <a:prstGeom prst="rect">
                <a:avLst/>
              </a:prstGeom>
            </p:spPr>
            <p:txBody>
              <a:bodyPr vert="horz" wrap="square" lIns="0" tIns="99060" rIns="0" bIns="0" rtlCol="0">
                <a:spAutoFit/>
              </a:bodyPr>
              <a:lstStyle/>
              <a:p>
                <a:pPr marL="240665" indent="-227965">
                  <a:lnSpc>
                    <a:spcPct val="100000"/>
                  </a:lnSpc>
                  <a:spcBef>
                    <a:spcPts val="680"/>
                  </a:spcBef>
                  <a:buFont typeface="Arial"/>
                  <a:buChar char="•"/>
                  <a:tabLst>
                    <a:tab pos="240665" algn="l"/>
                  </a:tabLst>
                </a:pPr>
                <a:r>
                  <a:rPr lang="en-IN" sz="2400" dirty="0"/>
                  <a:t>The results of this project demonstrate that advanced ensemble machine learning models—especially </a:t>
                </a:r>
                <a:r>
                  <a:rPr lang="en-IN" sz="2400" dirty="0" err="1"/>
                  <a:t>LightGBM</a:t>
                </a:r>
                <a:r>
                  <a:rPr lang="en-IN" sz="2400" dirty="0"/>
                  <a:t>—can predict cotton yield with extremely high accuracy and computational efficiency. The use of accumulated heat, soil type, cultivar, and fertilizer application rates as core features enabled precise </a:t>
                </a:r>
                <a:r>
                  <a:rPr lang="en-IN" sz="2400" dirty="0" err="1"/>
                  <a:t>modeling</a:t>
                </a:r>
                <a:r>
                  <a:rPr lang="en-IN" sz="2400" dirty="0"/>
                  <a:t> of yield across varied climatic zones. </a:t>
                </a:r>
                <a:r>
                  <a:rPr lang="en-IN" sz="2400" dirty="0" err="1"/>
                  <a:t>LightGBM</a:t>
                </a:r>
                <a:r>
                  <a:rPr lang="en-IN" sz="2400" dirty="0"/>
                  <a:t> outperformed Random Forest, setting new benchmarks in accuracy (</a:t>
                </a:r>
                <a14:m>
                  <m:oMath xmlns:m="http://schemas.openxmlformats.org/officeDocument/2006/math">
                    <m:r>
                      <a:rPr lang="en-IN" sz="2400"/>
                      <m:t>99</m:t>
                    </m:r>
                    <m:r>
                      <a:rPr lang="en-IN" sz="2400"/>
                      <m:t>.</m:t>
                    </m:r>
                    <m:r>
                      <a:rPr lang="en-IN" sz="2400"/>
                      <m:t>30</m:t>
                    </m:r>
                    <m:r>
                      <a:rPr lang="en-IN" sz="2400"/>
                      <m:t>%</m:t>
                    </m:r>
                  </m:oMath>
                </a14:m>
                <a:r>
                  <a:rPr lang="en-IN" sz="2400" dirty="0"/>
                  <a:t>), RMSE (2.711), and </a:t>
                </a:r>
                <a14:m>
                  <m:oMath xmlns:m="http://schemas.openxmlformats.org/officeDocument/2006/math">
                    <m:sSup>
                      <m:sSupPr>
                        <m:ctrlPr>
                          <a:rPr lang="ar-AE" sz="2400"/>
                        </m:ctrlPr>
                      </m:sSupPr>
                      <m:e>
                        <m:r>
                          <a:rPr lang="ar-AE" sz="2400" i="1"/>
                          <m:t>𝑅</m:t>
                        </m:r>
                      </m:e>
                      <m:sup>
                        <m:r>
                          <a:rPr lang="ar-AE" sz="2400"/>
                          <m:t>2</m:t>
                        </m:r>
                      </m:sup>
                    </m:sSup>
                  </m:oMath>
                </a14:m>
                <a:r>
                  <a:rPr lang="ar-AE" sz="2400" dirty="0"/>
                  <a:t> (0.9930), </a:t>
                </a:r>
                <a:r>
                  <a:rPr lang="en-IN" sz="2400" dirty="0"/>
                  <a:t>and the confusion matrix and ROC curves evidenced robust multi-class prediction reliability.</a:t>
                </a:r>
                <a:endParaRPr sz="2400" spc="-10" dirty="0"/>
              </a:p>
            </p:txBody>
          </p:sp>
        </mc:Choice>
        <mc:Fallback>
          <p:sp>
            <p:nvSpPr>
              <p:cNvPr id="3" name="object 3"/>
              <p:cNvSpPr txBox="1">
                <a:spLocks noGrp="1" noRot="1" noChangeAspect="1" noMove="1" noResize="1" noEditPoints="1" noAdjustHandles="1" noChangeArrowheads="1" noChangeShapeType="1" noTextEdit="1"/>
              </p:cNvSpPr>
              <p:nvPr>
                <p:ph type="body" idx="1"/>
              </p:nvPr>
            </p:nvSpPr>
            <p:spPr>
              <a:xfrm>
                <a:off x="917574" y="1730872"/>
                <a:ext cx="10512425" cy="3063018"/>
              </a:xfrm>
              <a:prstGeom prst="rect">
                <a:avLst/>
              </a:prstGeom>
              <a:blipFill>
                <a:blip r:embed="rId2"/>
                <a:stretch>
                  <a:fillRect l="-1566" r="-2320" b="-5378"/>
                </a:stretch>
              </a:blipFill>
            </p:spPr>
            <p:txBody>
              <a:bodyPr/>
              <a:lstStyle/>
              <a:p>
                <a:r>
                  <a:rPr lang="en-IN">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6AE81E4-07E3-C0D4-9D0D-3667EF3E946A}"/>
              </a:ext>
            </a:extLst>
          </p:cNvPr>
          <p:cNvSpPr>
            <a:spLocks noGrp="1"/>
          </p:cNvSpPr>
          <p:nvPr>
            <p:ph type="body" idx="1"/>
          </p:nvPr>
        </p:nvSpPr>
        <p:spPr>
          <a:xfrm>
            <a:off x="1219200" y="838200"/>
            <a:ext cx="9982200" cy="5278368"/>
          </a:xfrm>
        </p:spPr>
        <p:txBody>
          <a:bodyPr/>
          <a:lstStyle/>
          <a:p>
            <a:r>
              <a:rPr sz="2200"/>
              <a:t>1.      Significance &amp; Key Findings</a:t>
            </a:r>
          </a:p>
          <a:p>
            <a:endParaRPr lang="en-US" sz="2400" b="1" dirty="0"/>
          </a:p>
          <a:p>
            <a:pPr marL="342900" indent="-342900">
              <a:buFont typeface="Arial" panose="020B0604020202020204" pitchFamily="34" charset="0"/>
              <a:buChar char="•"/>
            </a:pPr>
            <a:r>
              <a:rPr sz="2200"/>
              <a:t>3. The project validates ensemble machine learning as a powerful tool for agricultural forecasting in climate-smart farming.</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sz="2200"/>
              <a:t>5. The simplified weather variable (accumulated heat) and careful feature engineering made the framework computationally efficient and scalable for real-world deployment.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sz="2200"/>
              <a:t>7. Results empower farmers and agricultural planners to make data-driven decisions on input management, irrigation scheduling, and crop selection, ultimately improving productivity and sustainability.</a:t>
            </a:r>
          </a:p>
          <a:p>
            <a:br>
              <a:rPr lang="en-US" dirty="0"/>
            </a:br>
            <a:endParaRPr lang="en-IN" dirty="0"/>
          </a:p>
        </p:txBody>
      </p:sp>
    </p:spTree>
    <p:extLst>
      <p:ext uri="{BB962C8B-B14F-4D97-AF65-F5344CB8AC3E}">
        <p14:creationId xmlns:p14="http://schemas.microsoft.com/office/powerpoint/2010/main" val="3459604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543A9A-F07E-F725-4AB9-1CDC00552267}"/>
              </a:ext>
            </a:extLst>
          </p:cNvPr>
          <p:cNvSpPr>
            <a:spLocks noGrp="1"/>
          </p:cNvSpPr>
          <p:nvPr>
            <p:ph type="body" idx="1"/>
          </p:nvPr>
        </p:nvSpPr>
        <p:spPr>
          <a:xfrm>
            <a:off x="914400" y="838200"/>
            <a:ext cx="10363200" cy="4801314"/>
          </a:xfrm>
        </p:spPr>
        <p:txBody>
          <a:bodyPr/>
          <a:lstStyle/>
          <a:p>
            <a:r>
              <a:rPr sz="2200"/>
              <a:t>1.     Limitations</a:t>
            </a:r>
          </a:p>
          <a:p>
            <a:endParaRPr lang="en-US" sz="2400" b="1" dirty="0"/>
          </a:p>
          <a:p>
            <a:pPr marL="342900" indent="-342900">
              <a:buFont typeface="Arial" panose="020B0604020202020204" pitchFamily="34" charset="0"/>
              <a:buChar char="•"/>
            </a:pPr>
            <a:r>
              <a:rPr sz="2200"/>
              <a:t>3. Dataset used, though expanded and balanced, primarily covers the southern United States; further validation is needed on wider regional and real-time data sources.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sz="2200"/>
              <a:t>5. Reliance on synthetic data for balancing may have subtle effects on generalization.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sz="2200"/>
              <a:t>7. The system does not currently integrate remote sensing imagery or real-time weather feeds, which could further boost prediction reliability.</a:t>
            </a:r>
          </a:p>
          <a:p>
            <a:br>
              <a:rPr lang="en-US" sz="2400" dirty="0"/>
            </a:br>
            <a:endParaRPr lang="en-IN" sz="2400" dirty="0"/>
          </a:p>
        </p:txBody>
      </p:sp>
    </p:spTree>
    <p:extLst>
      <p:ext uri="{BB962C8B-B14F-4D97-AF65-F5344CB8AC3E}">
        <p14:creationId xmlns:p14="http://schemas.microsoft.com/office/powerpoint/2010/main" val="40387362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307F92-9F84-E815-87B1-FE1E76B3BE64}"/>
              </a:ext>
            </a:extLst>
          </p:cNvPr>
          <p:cNvSpPr>
            <a:spLocks noGrp="1"/>
          </p:cNvSpPr>
          <p:nvPr>
            <p:ph type="body" idx="1"/>
          </p:nvPr>
        </p:nvSpPr>
        <p:spPr>
          <a:xfrm>
            <a:off x="838200" y="609600"/>
            <a:ext cx="10591800" cy="6332503"/>
          </a:xfrm>
        </p:spPr>
        <p:txBody>
          <a:bodyPr/>
          <a:lstStyle/>
          <a:p>
            <a:r>
              <a:rPr sz="2200"/>
              <a:t>1. Future Scope</a:t>
            </a:r>
          </a:p>
          <a:p>
            <a:endParaRPr lang="en-US" sz="2400" b="1" dirty="0"/>
          </a:p>
          <a:p>
            <a:r>
              <a:rPr sz="2200"/>
              <a:t>3. Data Expansion: Incorporate data from additional regions, cultivars, and management practices to improve generalizability and robustness.</a:t>
            </a:r>
          </a:p>
          <a:p>
            <a:endParaRPr lang="en-US" sz="2400" dirty="0"/>
          </a:p>
          <a:p>
            <a:r>
              <a:rPr sz="2200"/>
              <a:t>5. Integration with Real-time Feeds: Add live weather data and satellite imagery for high-resolution yield monitoring and adaptive learning.</a:t>
            </a:r>
          </a:p>
          <a:p>
            <a:endParaRPr lang="en-US" sz="2400" dirty="0"/>
          </a:p>
          <a:p>
            <a:r>
              <a:rPr sz="2200"/>
              <a:t>7. Decision Support Tools: Build user-friendly platforms for farmers, enabling interactive visualization, scenario analysis, and personalized recommendations.</a:t>
            </a:r>
          </a:p>
          <a:p>
            <a:endParaRPr lang="en-US" sz="2400" dirty="0"/>
          </a:p>
          <a:p>
            <a:r>
              <a:rPr sz="2200"/>
              <a:t>9. Extension to Other Crops: Adapt and validate the framework for wheat, maize, and other major crops in diverse climatic environments.</a:t>
            </a:r>
          </a:p>
          <a:p>
            <a:endParaRPr lang="en-US" sz="2400" dirty="0"/>
          </a:p>
          <a:p>
            <a:r>
              <a:rPr sz="2200"/>
              <a:t>11. Model Improvements: Explore deep learning and hybrid models for further accuracy gains and integration of multimodal datasets.</a:t>
            </a:r>
          </a:p>
          <a:p>
            <a:endParaRPr lang="en-IN" dirty="0"/>
          </a:p>
        </p:txBody>
      </p:sp>
    </p:spTree>
    <p:extLst>
      <p:ext uri="{BB962C8B-B14F-4D97-AF65-F5344CB8AC3E}">
        <p14:creationId xmlns:p14="http://schemas.microsoft.com/office/powerpoint/2010/main" val="10826549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003554" y="212641"/>
            <a:ext cx="10101072" cy="1200005"/>
          </a:xfrm>
          <a:prstGeom prst="rect">
            <a:avLst/>
          </a:prstGeom>
        </p:spPr>
        <p:txBody>
          <a:bodyPr vert="horz" wrap="square" lIns="0" tIns="262889" rIns="0" bIns="0" rtlCol="0">
            <a:spAutoFit/>
          </a:bodyPr>
          <a:lstStyle/>
          <a:p>
            <a:r>
              <a:rPr sz="2200"/>
              <a:t>31. REFERENCES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z="2200"/>
              <a:t>1. 19-12-2024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z="2200"/>
              <a:t>1. Batch 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z="2200"/>
              <a:t>1. 31</a:t>
            </a:r>
            <a:endParaRPr spc="-25" dirty="0"/>
          </a:p>
        </p:txBody>
      </p:sp>
      <p:sp>
        <p:nvSpPr>
          <p:cNvPr id="10" name="TextBox 9">
            <a:extLst>
              <a:ext uri="{FF2B5EF4-FFF2-40B4-BE49-F238E27FC236}">
                <a16:creationId xmlns:a16="http://schemas.microsoft.com/office/drawing/2014/main" id="{28499FC2-F897-2358-C65C-8BB8423D2B4B}"/>
              </a:ext>
            </a:extLst>
          </p:cNvPr>
          <p:cNvSpPr txBox="1"/>
          <p:nvPr/>
        </p:nvSpPr>
        <p:spPr>
          <a:xfrm>
            <a:off x="457200" y="1039003"/>
            <a:ext cx="11002710" cy="5509200"/>
          </a:xfrm>
          <a:prstGeom prst="rect">
            <a:avLst/>
          </a:prstGeom>
          <a:noFill/>
        </p:spPr>
        <p:txBody>
          <a:bodyPr wrap="square">
            <a:spAutoFit/>
          </a:bodyPr>
          <a:lstStyle/>
          <a:p>
            <a:pPr marL="342900" indent="-342900" algn="l">
              <a:buFont typeface="Arial" panose="020B0604020202020204" pitchFamily="34" charset="0"/>
              <a:buChar char="•"/>
            </a:pPr>
            <a:r>
              <a:rPr sz="2200"/>
              <a:t>1. KarMitra, A., Beegum, S., Fleisher, D., Reddy, V. R., Sun, W., Ray, C., Timlin, D., &amp; Malakar, A. (2024). Cotton yield prediction: A machine learning approach with field and synthetic data. IEEE Access, 12, 101273–101288.</a:t>
            </a:r>
          </a:p>
          <a:p>
            <a:pPr marL="342900" indent="-342900" algn="l">
              <a:buFont typeface="Arial" panose="020B0604020202020204" pitchFamily="34" charset="0"/>
              <a:buChar char="•"/>
            </a:pPr>
            <a:r>
              <a:rPr sz="2200"/>
              <a:t>2. imi, V., Smith, L., &amp; Brown, R. (2023). Climate-driven yield prediction using temperature-derived indicators: A case study on cotton. IEEE Journal of Selected Topics in Applied Earth Observations and Remote Sensing, 16, 12345–12356.</a:t>
            </a:r>
          </a:p>
          <a:p>
            <a:pPr marL="342900" indent="-342900" algn="l">
              <a:buFont typeface="Arial" panose="020B0604020202020204" pitchFamily="34" charset="0"/>
              <a:buChar char="•"/>
            </a:pPr>
            <a:r>
              <a:rPr sz="2200"/>
              <a:t>3. Ke, G., Meng, Q., Finley, T., Wang, T., Chen, W., Ma, W., Ye, Q., &amp; Liu, T.-Y. (2017). LightGBM: A highly efficient gradient boosting decision tree. In Advances in Neural Information Processing Systems, 30, 3146–3154.</a:t>
            </a:r>
          </a:p>
          <a:p>
            <a:pPr marL="342900" indent="-342900" algn="l">
              <a:buFont typeface="Arial" panose="020B0604020202020204" pitchFamily="34" charset="0"/>
              <a:buChar char="•"/>
            </a:pPr>
            <a:r>
              <a:rPr sz="2200"/>
              <a:t>4. Haider, S. T., Ge, W., Li, J., Rehman, S. U., Imran, A., Sharaf, M., &amp; Haider, S. M. (2024). An ensemble machine learning framework for cotton crop yield prediction using weather parameters: A case study of Pakistan. IEEE Access.</a:t>
            </a:r>
          </a:p>
          <a:p>
            <a:pPr marL="342900" indent="-342900" algn="l">
              <a:buFont typeface="Arial" panose="020B0604020202020204" pitchFamily="34" charset="0"/>
              <a:buChar char="•"/>
            </a:pPr>
            <a:r>
              <a:rPr sz="2200"/>
              <a:t>5. Rao, S. N. T., Moturi, S., Mothe, S., Harsha, R. L. S., Shaik, N., Rohit, S. V. S. M., &amp; Reddy, D. V. (2025). Fake profile detection using machine learning. 2025 IEEE International Conference on Interdisciplinary Approaches in Technology and Management for Social Innovation (IATMSI), 1–6.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3AC7C86-0B6A-097B-1DCF-E606DF889916}"/>
              </a:ext>
            </a:extLst>
          </p:cNvPr>
          <p:cNvSpPr>
            <a:spLocks noGrp="1"/>
          </p:cNvSpPr>
          <p:nvPr>
            <p:ph type="body" idx="1"/>
          </p:nvPr>
        </p:nvSpPr>
        <p:spPr>
          <a:xfrm>
            <a:off x="990600" y="609600"/>
            <a:ext cx="10436225" cy="5840060"/>
          </a:xfrm>
        </p:spPr>
        <p:txBody>
          <a:bodyPr/>
          <a:lstStyle/>
          <a:p>
            <a:pPr marL="457200" indent="-457200">
              <a:buFont typeface="Arial" panose="020B0604020202020204" pitchFamily="34" charset="0"/>
              <a:buChar char="•"/>
            </a:pPr>
            <a:r>
              <a:rPr sz="2200"/>
              <a:t>1. Isik, M. S., Celik, M. F., &amp; Erten, E. (2024). Unveiling high-resolution cotton yield variations from low-resolution statistics: Lessons from a nationwide study in Turkey. IGARSS 2024 IEEE International Geoscience and Remote Sensing Symposium, Athens, Greece.</a:t>
            </a:r>
          </a:p>
          <a:p>
            <a:pPr marL="457200" indent="-457200">
              <a:buFont typeface="Arial" panose="020B0604020202020204" pitchFamily="34" charset="0"/>
              <a:buChar char="•"/>
            </a:pPr>
            <a:r>
              <a:rPr sz="2200"/>
              <a:t>2. Rizwana, S., Priya, P. M., Suvarshitha, K., Gayathri, M., Ramakrishna, E., &amp; Sireesha, M. (2025). Enhancing wine quality prediction through machine learning techniques. 2025 IEEE International Conference on Interdisciplinary Approaches in Technology and Management for Social Innovation (IATMSI), 1–6.</a:t>
            </a:r>
          </a:p>
          <a:p>
            <a:pPr marL="457200" indent="-457200">
              <a:buFont typeface="Arial" panose="020B0604020202020204" pitchFamily="34" charset="0"/>
              <a:buChar char="•"/>
            </a:pPr>
            <a:r>
              <a:rPr sz="2200"/>
              <a:t>3. Devoto, F., Ashourloo, D., Zhao, Y., Jiang, R., Awale, R., Bell, M., Mclaren, T., Reynolds-Massey-Reed, S., Otto, L., Bange, M., Woodgate, W., Chapman, S., &amp; Potgieter, A. (2025). Quantifying cotton growth rate from multispectral UAV imagery at plot scale. IGARSS 2025 IEEE International Geoscience and Remote Sensing Symposium, Brisbane, Australia.</a:t>
            </a:r>
          </a:p>
          <a:p>
            <a:pPr marL="457200" indent="-457200">
              <a:buFont typeface="Arial" panose="020B0604020202020204" pitchFamily="34" charset="0"/>
              <a:buChar char="•"/>
            </a:pPr>
            <a:r>
              <a:rPr sz="2200"/>
              <a:t>4. Singh, A., Yadav, P., &amp; Kumar, R. (2022). Remote sensing and machine learning integration for crop yield estimation: Advances and challenges. IEEE Access, 10, 106789–106801.</a:t>
            </a:r>
          </a:p>
          <a:p>
            <a:endParaRPr lang="en-IN" dirty="0"/>
          </a:p>
        </p:txBody>
      </p:sp>
    </p:spTree>
    <p:extLst>
      <p:ext uri="{BB962C8B-B14F-4D97-AF65-F5344CB8AC3E}">
        <p14:creationId xmlns:p14="http://schemas.microsoft.com/office/powerpoint/2010/main" val="3460639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2AECB2C-A23D-534F-65D5-0BF9953A9CEA}"/>
              </a:ext>
            </a:extLst>
          </p:cNvPr>
          <p:cNvSpPr>
            <a:spLocks noGrp="1"/>
          </p:cNvSpPr>
          <p:nvPr>
            <p:ph type="body" idx="1"/>
          </p:nvPr>
        </p:nvSpPr>
        <p:spPr>
          <a:xfrm>
            <a:off x="609600" y="685800"/>
            <a:ext cx="10972799" cy="5755422"/>
          </a:xfrm>
        </p:spPr>
        <p:txBody>
          <a:bodyPr/>
          <a:lstStyle/>
          <a:p>
            <a:pPr marL="342900" indent="-342900">
              <a:buFont typeface="Arial" panose="020B0604020202020204" pitchFamily="34" charset="0"/>
              <a:buChar char="•"/>
            </a:pPr>
            <a:r>
              <a:rPr sz="2200"/>
              <a:t>1. Singh, A., Yadav, P., &amp; Kumar, R. (2022). Remote sensing and machine learning integration for crop yield estimation: Advances and challenges. IEEE Access, 10, 106789–106801.</a:t>
            </a:r>
          </a:p>
          <a:p>
            <a:pPr marL="342900" indent="-342900">
              <a:buFont typeface="Arial" panose="020B0604020202020204" pitchFamily="34" charset="0"/>
              <a:buChar char="•"/>
            </a:pPr>
            <a:r>
              <a:rPr sz="2200"/>
              <a:t>2. Patel, M. K., Rolland, V., Egan, L. M., Stiller, W. N., &amp; Conaty, W. C. (2025). Verticillium wilt monitoring in cotton using UAV-based multispectral camera and ensemble machine learning approach. IGARSS 2025 IEEE International Geoscience and Remote Sensing Symposium, Brisbane, Australia.</a:t>
            </a:r>
          </a:p>
          <a:p>
            <a:pPr marL="342900" indent="-342900">
              <a:buFont typeface="Arial" panose="020B0604020202020204" pitchFamily="34" charset="0"/>
              <a:buChar char="•"/>
            </a:pPr>
            <a:r>
              <a:rPr sz="2200"/>
              <a:t>3. Liu, J., Wang, H., &amp; Chen, Y. (2023). Fusion of multi-modal datasets for agricultural yield prediction: Soil, climate, and satellite imagery. Proc. IEEE IGARSS, 4572–4575.</a:t>
            </a:r>
          </a:p>
          <a:p>
            <a:pPr marL="342900" indent="-342900">
              <a:buFont typeface="Arial" panose="020B0604020202020204" pitchFamily="34" charset="0"/>
              <a:buChar char="•"/>
            </a:pPr>
            <a:r>
              <a:rPr sz="2200"/>
              <a:t>4. Breiman, L. (2001). Random forests. Machine Learning, 45(1), 5–32.</a:t>
            </a:r>
          </a:p>
          <a:p>
            <a:pPr marL="342900" indent="-342900">
              <a:buFont typeface="Arial" panose="020B0604020202020204" pitchFamily="34" charset="0"/>
              <a:buChar char="•"/>
            </a:pPr>
            <a:r>
              <a:rPr sz="2200"/>
              <a:t>5. James, G., Witten, D., Hastie, T., &amp; Tibshirani, R. (2013). An Introduction to Statistical Learning. Springer.</a:t>
            </a:r>
          </a:p>
          <a:p>
            <a:pPr marL="342900" indent="-342900">
              <a:buFont typeface="Arial" panose="020B0604020202020204" pitchFamily="34" charset="0"/>
              <a:buChar char="•"/>
            </a:pPr>
            <a:r>
              <a:rPr sz="2200"/>
              <a:t>6. Drucker, H., Burges, C. J., Kaufman, L., Smola, A., &amp; Vapnik, V. (1997). Support vector regression machines. Advances in Neural Information Processing Systems, 9, 155–161.</a:t>
            </a:r>
          </a:p>
          <a:p>
            <a:pPr marL="342900" indent="-342900">
              <a:buFont typeface="Arial" panose="020B0604020202020204" pitchFamily="34" charset="0"/>
              <a:buChar char="•"/>
            </a:pPr>
            <a:r>
              <a:rPr sz="2200"/>
              <a:t>7. Lakshminadh, K., Guptha, D. C. V., Sai, J., Rajesh, K., Moturi, S., Neelima, Y., &amp; Reddy, D. V. (2025). Advanced pest identification: An efficient deep learning approach using VGG networks. 2025 IEEE International Conference on Interdisciplinary Approaches in Technology and Management for Social Innovation (IATMSI), 1–6.</a:t>
            </a:r>
          </a:p>
        </p:txBody>
      </p:sp>
    </p:spTree>
    <p:extLst>
      <p:ext uri="{BB962C8B-B14F-4D97-AF65-F5344CB8AC3E}">
        <p14:creationId xmlns:p14="http://schemas.microsoft.com/office/powerpoint/2010/main" val="31617677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62889" rIns="0" bIns="0" rtlCol="0">
            <a:spAutoFit/>
          </a:bodyPr>
          <a:lstStyle/>
          <a:p>
            <a:r>
              <a:rPr sz="2200"/>
              <a:t>34. QUESTIONS and ANSWERS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z="2200"/>
              <a:t>1. 19-12-2024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z="2200"/>
              <a:t>1. Batch 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z="2200"/>
              <a:t>1. 34</a:t>
            </a:r>
            <a:endParaRPr spc="-25" dirty="0"/>
          </a:p>
        </p:txBody>
      </p:sp>
      <p:sp>
        <p:nvSpPr>
          <p:cNvPr id="3" name="object 3"/>
          <p:cNvSpPr txBox="1"/>
          <p:nvPr/>
        </p:nvSpPr>
        <p:spPr>
          <a:xfrm>
            <a:off x="917575" y="1813305"/>
            <a:ext cx="6912609" cy="449580"/>
          </a:xfrm>
          <a:prstGeom prst="rect">
            <a:avLst/>
          </a:prstGeom>
        </p:spPr>
        <p:txBody>
          <a:bodyPr vert="horz" wrap="square" lIns="0" tIns="16510" rIns="0" bIns="0" rtlCol="0">
            <a:spAutoFit/>
          </a:bodyPr>
          <a:lstStyle/>
          <a:p>
            <a:pPr marL="241300" indent="-228600">
              <a:lnSpc>
                <a:spcPct val="100000"/>
              </a:lnSpc>
              <a:spcBef>
                <a:spcPts val="130"/>
              </a:spcBef>
              <a:buFont typeface="Arial"/>
              <a:buChar char="•"/>
              <a:tabLst>
                <a:tab pos="241300" algn="l"/>
              </a:tabLst>
            </a:pPr>
            <a:r>
              <a:rPr sz="2200"/>
              <a:t>1. Open the floor for questions from the audience</a:t>
            </a:r>
            <a:endParaRPr sz="2750" dirty="0">
              <a:latin typeface="Times New Roman"/>
              <a:cs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62889" rIns="0" bIns="0" rtlCol="0">
            <a:spAutoFit/>
          </a:bodyPr>
          <a:lstStyle/>
          <a:p>
            <a:r>
              <a:rPr sz="2200"/>
              <a:t>35. ACKNOWLEGEMENTS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z="2200"/>
              <a:t>1. 19-12-2024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2200"/>
              <a:t>1. Review 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z="2200"/>
              <a:t>1. Batch 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2200"/>
              <a:t>1. Department of 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z="2200"/>
              <a:t>1. 35</a:t>
            </a:r>
            <a:endParaRPr spc="-25" dirty="0"/>
          </a:p>
        </p:txBody>
      </p:sp>
      <p:sp>
        <p:nvSpPr>
          <p:cNvPr id="3" name="object 3"/>
          <p:cNvSpPr txBox="1"/>
          <p:nvPr/>
        </p:nvSpPr>
        <p:spPr>
          <a:xfrm>
            <a:off x="917575" y="1143000"/>
            <a:ext cx="10893425" cy="4942379"/>
          </a:xfrm>
          <a:prstGeom prst="rect">
            <a:avLst/>
          </a:prstGeom>
        </p:spPr>
        <p:txBody>
          <a:bodyPr vert="horz" wrap="square" lIns="0" tIns="99060" rIns="0" bIns="0" rtlCol="0">
            <a:spAutoFit/>
          </a:bodyPr>
          <a:lstStyle/>
          <a:p>
            <a:pPr marL="342900" indent="-342900">
              <a:buFont typeface="Arial" panose="020B0604020202020204" pitchFamily="34" charset="0"/>
              <a:buChar char="•"/>
            </a:pPr>
            <a:r>
              <a:rPr sz="2200"/>
              <a:t>1. I would like to express my sincere gratitude for the opportunity to present this work.</a:t>
            </a:r>
            <a:br/>
            <a:r>
              <a:rPr sz="2200"/>
              <a:t>Special thanks to my guide, faculty members, and the Department of Computer Science and Engineering for their guidance, support, and encouragement throughout this project.</a:t>
            </a:r>
          </a:p>
          <a:p>
            <a:pPr marL="342900" indent="-342900">
              <a:buFont typeface="Arial" panose="020B0604020202020204" pitchFamily="34" charset="0"/>
              <a:buChar char="•"/>
            </a:pPr>
            <a:r>
              <a:rPr sz="2200"/>
              <a:t>2. I extend appreciation to my peers and all those who contributed—directly or indirectly—to the successful completion of this research.</a:t>
            </a:r>
          </a:p>
          <a:p>
            <a:pPr marL="342900" indent="-342900">
              <a:buFont typeface="Arial" panose="020B0604020202020204" pitchFamily="34" charset="0"/>
              <a:buChar char="•"/>
            </a:pPr>
            <a:r>
              <a:rPr sz="2200"/>
              <a:t>3. If you have further questions or would like to discuss this project in more detail, please feel free to reach out:</a:t>
            </a:r>
          </a:p>
          <a:p>
            <a:pPr marL="342900" indent="-342900">
              <a:buFont typeface="Arial" panose="020B0604020202020204" pitchFamily="34" charset="0"/>
              <a:buChar char="•"/>
            </a:pPr>
            <a:r>
              <a:rPr sz="2200"/>
              <a:t>4. Contact Information:</a:t>
            </a:r>
            <a:br/>
            <a:r>
              <a:rPr sz="2200"/>
              <a:t>Name: S. M. D. Sakhib</a:t>
            </a:r>
            <a:br/>
            <a:r>
              <a:rPr sz="2200"/>
              <a:t>Email: mdsakhib26@gmail.com</a:t>
            </a:r>
            <a:br/>
            <a:r>
              <a:rPr sz="2200"/>
              <a:t>Department of CSE, Narasaraopeta Engineering College (Autonomous)</a:t>
            </a:r>
          </a:p>
          <a:p>
            <a:pPr marL="342900" indent="-342900">
              <a:buFont typeface="Arial" panose="020B0604020202020204" pitchFamily="34" charset="0"/>
              <a:buChar char="•"/>
            </a:pPr>
            <a:r>
              <a:rPr sz="2200"/>
              <a:t>5. Thank you for your attention!</a:t>
            </a:r>
          </a:p>
          <a:p>
            <a:pPr marL="241300" indent="-228600">
              <a:lnSpc>
                <a:spcPct val="100000"/>
              </a:lnSpc>
              <a:spcBef>
                <a:spcPts val="780"/>
              </a:spcBef>
              <a:buFont typeface="Arial"/>
              <a:buChar char="•"/>
              <a:tabLst>
                <a:tab pos="241300" algn="l"/>
              </a:tabLst>
            </a:pPr>
            <a:endParaRPr sz="2200"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465</TotalTime>
  <Words>3940</Words>
  <Application>Microsoft Office PowerPoint</Application>
  <PresentationFormat>Widescreen</PresentationFormat>
  <Paragraphs>333</Paragraphs>
  <Slides>35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Aptos</vt:lpstr>
      <vt:lpstr>Arial</vt:lpstr>
      <vt:lpstr>Calibri</vt:lpstr>
      <vt:lpstr>Cambria Math</vt:lpstr>
      <vt:lpstr>fkGrotesk</vt:lpstr>
      <vt:lpstr>fkGroteskNeue</vt:lpstr>
      <vt:lpstr>Times New Roman</vt:lpstr>
      <vt:lpstr>Wingdings</vt:lpstr>
      <vt:lpstr>Office Theme</vt:lpstr>
      <vt:lpstr>INSTRUCTIONS</vt:lpstr>
      <vt:lpstr>                                                Department of Computer Science and Engineering Climate-Smart Cotton Yield Prediction: A Comparative Study of Random Forest                                                   and LightGBM   </vt:lpstr>
      <vt:lpstr>OUTLINE</vt:lpstr>
      <vt:lpstr>ABSTRACT</vt:lpstr>
      <vt:lpstr>PowerPoint Presentation</vt:lpstr>
      <vt:lpstr>INTRODUCTION</vt:lpstr>
      <vt:lpstr>PowerPoint Presentation</vt:lpstr>
      <vt:lpstr>LITERATURE SURVEY</vt:lpstr>
      <vt:lpstr>PowerPoint Presentation</vt:lpstr>
      <vt:lpstr>PowerPoint Presentation</vt:lpstr>
      <vt:lpstr>RESEARCH GAPS</vt:lpstr>
      <vt:lpstr>PowerPoint Presentation</vt:lpstr>
      <vt:lpstr>PROBLEM STATEMENT</vt:lpstr>
      <vt:lpstr>OBJECTIVES</vt:lpstr>
      <vt:lpstr>BLOCK DIAGRAM OR FLOW DIAGRAM</vt:lpstr>
      <vt:lpstr>METHODOLOGY</vt:lpstr>
      <vt:lpstr>PowerPoint Presentation</vt:lpstr>
      <vt:lpstr>PowerPoint Presentation</vt:lpstr>
      <vt:lpstr>PowerPoint Presentation</vt:lpstr>
      <vt:lpstr>PowerPoint Presentation</vt:lpstr>
      <vt:lpstr>IMPLEMENTATION</vt:lpstr>
      <vt:lpstr>PowerPoint Presentation</vt:lpstr>
      <vt:lpstr>PowerPoint Presentation</vt:lpstr>
      <vt:lpstr>PowerPoint Presentation</vt:lpstr>
      <vt:lpstr>RESULTS &amp; ANALYSIS</vt:lpstr>
      <vt:lpstr>PowerPoint Presentation</vt:lpstr>
      <vt:lpstr>CONCLUSION and FUTURE SCOPE</vt:lpstr>
      <vt:lpstr>PowerPoint Presentation</vt:lpstr>
      <vt:lpstr>PowerPoint Presentation</vt:lpstr>
      <vt:lpstr>PowerPoint Presentation</vt:lpstr>
      <vt:lpstr>REFERENCES</vt:lpstr>
      <vt:lpstr>PowerPoint Presentation</vt:lpstr>
      <vt:lpstr>PowerPoint Presentation</vt:lpstr>
      <vt:lpstr>QUESTIONS and ANSWERS</vt:lpstr>
      <vt:lpstr>ACKNOWLEGEMENTS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charan desireddy</dc:creator>
  <cp:lastModifiedBy>charan desireddy</cp:lastModifiedBy>
  <cp:revision>2</cp:revision>
  <dcterms:created xsi:type="dcterms:W3CDTF">2025-11-11T15:51:08Z</dcterms:created>
  <dcterms:modified xsi:type="dcterms:W3CDTF">2025-11-11T23:27:05Z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2024-12-19T00:00:00Z</vt:filetime>
  </property>
  <property fmtid="{D5CDD505-2E9C-101B-9397-08002B2CF9AE}" pid="3" name="LastSaved">
    <vt:filetime>2025-11-11T00:00:00Z</vt:filetime>
  </property>
</Properties>
</file>