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753100" cy="3238500"/>
  <p:notesSz cx="6858000" cy="9144000"/>
  <p:embeddedFontLst>
    <p:embeddedFont>
      <p:font typeface="DM Sans" pitchFamily="2" charset="0"/>
      <p:regular r:id="rId11"/>
      <p:bold r:id="rId12"/>
      <p:italic r:id="rId13"/>
      <p:boldItalic r:id="rId14"/>
    </p:embeddedFont>
    <p:embeddedFont>
      <p:font typeface="IBM Plex Sans Condensed" panose="020B050605020300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vpx60kFJchDSxv1XZCtyUwYVsbA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5B213-281E-0530-D476-25AC9D67144F}" name="Satuluri Mohammad Sakhib" initials="SS" userId="82de63770e98369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2A0"/>
    <a:srgbClr val="0B4CB5"/>
    <a:srgbClr val="65A4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58" autoAdjust="0"/>
  </p:normalViewPr>
  <p:slideViewPr>
    <p:cSldViewPr snapToGrid="0">
      <p:cViewPr varScale="1">
        <p:scale>
          <a:sx n="154" d="100"/>
          <a:sy n="154" d="100"/>
        </p:scale>
        <p:origin x="104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30" Type="http://customschemas.google.com/relationships/presentationmetadata" Target="metadata"/><Relationship Id="rId35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7531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883177" y="1543050"/>
            <a:ext cx="4032281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1668AB"/>
              </a:buClr>
              <a:buSzPts val="1100"/>
            </a:pPr>
            <a:r>
              <a:rPr lang="en-US" sz="1200" b="1" i="0" u="none" strike="noStrike" cap="none" dirty="0">
                <a:solidFill>
                  <a:srgbClr val="1D62A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lang="en-US" sz="1200" b="1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Climate-Smart Cotton Yield Prediction: A Comparative Study of Random Forest and </a:t>
            </a:r>
            <a:r>
              <a:rPr lang="en-US" sz="1200" b="1" dirty="0" err="1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200" b="1" i="0" u="none" strike="noStrike" cap="none" dirty="0">
                <a:solidFill>
                  <a:srgbClr val="1D62A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200" b="1" i="0" u="none" strike="noStrike" cap="none" dirty="0">
              <a:solidFill>
                <a:srgbClr val="1D62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{Paper Id:</a:t>
            </a:r>
            <a:r>
              <a:rPr lang="en-US" sz="1100" b="1" dirty="0">
                <a:solidFill>
                  <a:srgbClr val="1D62A0"/>
                </a:solidFill>
                <a:latin typeface="Calibri"/>
                <a:ea typeface="Calibri"/>
                <a:cs typeface="Calibri"/>
                <a:sym typeface="Calibri"/>
              </a:rPr>
              <a:t>894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37642" y="2076775"/>
            <a:ext cx="4259767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0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Authors :</a:t>
            </a:r>
            <a:r>
              <a:rPr lang="en-IN" sz="1000" dirty="0" err="1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D.Venkata</a:t>
            </a:r>
            <a:r>
              <a:rPr lang="en-IN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Reddy, </a:t>
            </a:r>
            <a:r>
              <a:rPr lang="en-IN" sz="1000" dirty="0" err="1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S.MD.Sakhib</a:t>
            </a:r>
            <a:r>
              <a:rPr lang="en-IN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000" dirty="0" err="1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G.V.Ganesh</a:t>
            </a:r>
            <a:r>
              <a:rPr lang="en-IN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000" dirty="0" err="1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D.C.V.S.Nagi</a:t>
            </a:r>
            <a:r>
              <a:rPr lang="en-IN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Reddy, </a:t>
            </a:r>
            <a:r>
              <a:rPr lang="en-IN" sz="1000" dirty="0" err="1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N.S.Gunapriya</a:t>
            </a:r>
            <a:r>
              <a:rPr lang="en-IN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000" dirty="0" err="1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N.Ravi</a:t>
            </a:r>
            <a:r>
              <a:rPr lang="en-IN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Kumar, </a:t>
            </a:r>
            <a:r>
              <a:rPr lang="en-IN" sz="1000" dirty="0" err="1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M.Sireesha</a:t>
            </a:r>
            <a:endParaRPr lang="en-IN" sz="1000" dirty="0">
              <a:solidFill>
                <a:srgbClr val="1D62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b="1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Affiliation:</a:t>
            </a:r>
            <a:br>
              <a:rPr lang="en-US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  <a:br>
              <a:rPr lang="en-US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solidFill>
                  <a:srgbClr val="1D62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 Engineering College (Autonomous), Narasaraopeta, India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/>
              <a:buNone/>
            </a:pP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323" y="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-881023" y="88059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:894</a:t>
            </a:r>
            <a:endParaRPr dirty="0"/>
          </a:p>
        </p:txBody>
      </p:sp>
      <p:sp>
        <p:nvSpPr>
          <p:cNvPr id="93" name="Google Shape;93;p2"/>
          <p:cNvSpPr txBox="1"/>
          <p:nvPr/>
        </p:nvSpPr>
        <p:spPr>
          <a:xfrm>
            <a:off x="80289" y="507080"/>
            <a:ext cx="5843239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to Solve: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accurately predict cotton yield despite climate variability, soil differences, and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limited historical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farmers make data-driven decisions and improve productivity under changing climate conditions.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Scope / Goal: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compare RF 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for highly accurate cotton yield prediction using enhanced datasets.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 highly accurate, stable, and scalable cotton yield prediction model suitable for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real-world agricultural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16" y="-978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-895350" y="93995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2272"/>
              </a:lnSpc>
            </a:pPr>
            <a:r>
              <a:rPr lang="en-US" sz="1100" b="1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:894</a:t>
            </a:r>
            <a:endParaRPr lang="en-US" sz="1100" dirty="0"/>
          </a:p>
        </p:txBody>
      </p:sp>
      <p:sp>
        <p:nvSpPr>
          <p:cNvPr id="100" name="Google Shape;100;p3"/>
          <p:cNvSpPr txBox="1"/>
          <p:nvPr/>
        </p:nvSpPr>
        <p:spPr>
          <a:xfrm>
            <a:off x="89780" y="469885"/>
            <a:ext cx="5687215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Context: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and rising temperatures significantly impact cotton growth, creating a need for reliable yield prediction.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Problem: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yield prediction helps farmers optimize resources, reduce risks, and improve overall agricultural productivity.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Involved: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Random Forest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ensemble-based yield modeling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fast and high-accuracy gradient boosting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Synthetic data generation for balanced and robust training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Challenges: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Limited historical data, heterogeneous soil–climate conditions, and nonlinear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crop behavior make prediction difficult.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434" y="0"/>
            <a:ext cx="5769532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-895350" y="89833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2272"/>
              </a:lnSpc>
            </a:pPr>
            <a:r>
              <a:rPr lang="en-US" sz="1100" b="1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:894</a:t>
            </a:r>
            <a:endParaRPr lang="en-US" sz="1100" dirty="0"/>
          </a:p>
        </p:txBody>
      </p:sp>
      <p:sp>
        <p:nvSpPr>
          <p:cNvPr id="107" name="Google Shape;107;p4"/>
          <p:cNvSpPr txBox="1"/>
          <p:nvPr/>
        </p:nvSpPr>
        <p:spPr>
          <a:xfrm>
            <a:off x="209549" y="461562"/>
            <a:ext cx="5971207" cy="20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Crop simulation models (e.g., GOSSYM)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Traditional ML methods (RF, SVR, MLR, ANN)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Remote-sensing–based prediction frameworks (UAV and satellite models)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High dependency on detailed weather or remote-sensing data, limited    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generalization, and higher computational cost.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Proposed Approach: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Using simplified climate indicators with synthetic data and optimized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highly accurate and efficient yield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761316" cy="3233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268503" y="688303"/>
            <a:ext cx="3392448" cy="20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8746" marR="0" lvl="1" indent="0" algn="l" rtl="0">
              <a:lnSpc>
                <a:spcPct val="8555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128074" y="468035"/>
            <a:ext cx="1946885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Overview: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removes outliers, encodes categories, and balances data</a:t>
            </a:r>
            <a:b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– generates accumulated heat units and synthetic samples</a:t>
            </a:r>
            <a:b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RF, </a:t>
            </a:r>
            <a:r>
              <a:rPr lang="en-I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baseline models are trained and tuned</a:t>
            </a:r>
            <a:b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Module – computes RMSE, R², NSE, and accuracy</a:t>
            </a:r>
            <a:b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System 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outputs final cotton yield estimation (High/Medium/Low)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Highlights: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Accumulated Heat + Soil + Cultivar + Nitrogen → Combined Feature Vector.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Leaf-Wise Tree Growth for fine-grained splitting.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Data Augmentation to handle imbalance and improve stability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-910145" y="93995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2272"/>
              </a:lnSpc>
            </a:pPr>
            <a:r>
              <a:rPr lang="en-US" sz="1100" b="1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:894</a:t>
            </a:r>
            <a:endParaRPr 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1B49B-AE1D-117E-8BEE-396EDCEBB1CE}"/>
              </a:ext>
            </a:extLst>
          </p:cNvPr>
          <p:cNvSpPr txBox="1"/>
          <p:nvPr/>
        </p:nvSpPr>
        <p:spPr>
          <a:xfrm>
            <a:off x="1964727" y="2749317"/>
            <a:ext cx="15099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C2B233-031F-6D6E-9201-C0EE7629D5D5}"/>
              </a:ext>
            </a:extLst>
          </p:cNvPr>
          <p:cNvSpPr txBox="1"/>
          <p:nvPr/>
        </p:nvSpPr>
        <p:spPr>
          <a:xfrm>
            <a:off x="3878394" y="2829425"/>
            <a:ext cx="158010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PREDICTING INTERFACE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3CB1A-5A19-8B41-6CA2-FA9D601EFA00}"/>
              </a:ext>
            </a:extLst>
          </p:cNvPr>
          <p:cNvSpPr txBox="1"/>
          <p:nvPr/>
        </p:nvSpPr>
        <p:spPr>
          <a:xfrm>
            <a:off x="4003288" y="1635178"/>
            <a:ext cx="116466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OF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FF9A08-30DB-A347-FC3D-5453BD86C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959" y="468036"/>
            <a:ext cx="1399761" cy="22812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BDD047-497B-F0E2-1478-C45180CFFE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0291" y="625597"/>
            <a:ext cx="2115453" cy="1041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FDDA3A-F316-CF91-A5FE-BBEDB041E1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0291" y="1766954"/>
            <a:ext cx="2115453" cy="9823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434" y="-9017"/>
            <a:ext cx="5785594" cy="3247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6"/>
          <p:cNvGrpSpPr/>
          <p:nvPr/>
        </p:nvGrpSpPr>
        <p:grpSpPr>
          <a:xfrm>
            <a:off x="1894836" y="49385"/>
            <a:ext cx="1989385" cy="274495"/>
            <a:chOff x="0" y="-18316"/>
            <a:chExt cx="2652513" cy="365994"/>
          </a:xfrm>
        </p:grpSpPr>
        <p:sp>
          <p:nvSpPr>
            <p:cNvPr id="122" name="Google Shape;122;p6"/>
            <p:cNvSpPr txBox="1"/>
            <p:nvPr/>
          </p:nvSpPr>
          <p:spPr>
            <a:xfrm>
              <a:off x="175023" y="-18316"/>
              <a:ext cx="2335620" cy="3659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49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6"/>
            <p:cNvSpPr txBox="1"/>
            <p:nvPr/>
          </p:nvSpPr>
          <p:spPr>
            <a:xfrm>
              <a:off x="0" y="-6661"/>
              <a:ext cx="2652513" cy="344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30" b="1" i="0" u="none" strike="noStrike" cap="none">
                <a:solidFill>
                  <a:srgbClr val="65A43D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4" name="Google Shape;124;p6"/>
          <p:cNvSpPr txBox="1"/>
          <p:nvPr/>
        </p:nvSpPr>
        <p:spPr>
          <a:xfrm>
            <a:off x="99588" y="359196"/>
            <a:ext cx="3304563" cy="1419362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Setup:</a:t>
            </a:r>
          </a:p>
          <a:p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trained on the cotton yield dataset combining </a:t>
            </a:r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records and synthetic samples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</a:t>
            </a:r>
          </a:p>
          <a:p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LightGBM’s</a:t>
            </a:r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built-in gradient boosting optimizer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stable and efficient tree</a:t>
            </a:r>
          </a:p>
          <a:p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growth.</a:t>
            </a:r>
          </a:p>
          <a:p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</a:t>
            </a:r>
          </a:p>
          <a:p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learning-rate tuning with early stopping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smooth and controlled model </a:t>
            </a:r>
          </a:p>
          <a:p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convergence.</a:t>
            </a:r>
          </a:p>
          <a:p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 &amp; Epochs:</a:t>
            </a:r>
          </a:p>
          <a:p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performed using an </a:t>
            </a:r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80/20 split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boosting rounds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ensuring</a:t>
            </a:r>
          </a:p>
          <a:p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balanced learning.</a:t>
            </a:r>
          </a:p>
          <a:p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Used:</a:t>
            </a:r>
          </a:p>
          <a:p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 </a:t>
            </a:r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RMSE, R², NSE, Accuracy, Confusion Matrix, and ROC-AUC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</a:p>
          <a:p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</a:t>
            </a:r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0.9930 R²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2.711 RMSE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≈ 1.00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outperforming all baseline models.</a:t>
            </a:r>
          </a:p>
        </p:txBody>
      </p:sp>
      <p:sp>
        <p:nvSpPr>
          <p:cNvPr id="125" name="Google Shape;125;p6"/>
          <p:cNvSpPr txBox="1"/>
          <p:nvPr/>
        </p:nvSpPr>
        <p:spPr>
          <a:xfrm>
            <a:off x="-955172" y="101391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2272"/>
              </a:lnSpc>
            </a:pPr>
            <a:r>
              <a:rPr lang="en-US" sz="1100" b="1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:894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DD456-DB71-3121-9731-01CCF0BE281C}"/>
              </a:ext>
            </a:extLst>
          </p:cNvPr>
          <p:cNvSpPr txBox="1"/>
          <p:nvPr/>
        </p:nvSpPr>
        <p:spPr>
          <a:xfrm>
            <a:off x="3060354" y="1672603"/>
            <a:ext cx="2618562" cy="127727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Dynamics &amp; ROC Curve Summary: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Loss:</a:t>
            </a:r>
            <a:r>
              <a:rPr lang="en-I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Steadily decreases → </a:t>
            </a:r>
            <a:r>
              <a:rPr lang="en-IN"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RF models learn effectively.</a:t>
            </a:r>
            <a:br>
              <a:rPr lang="en-I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Metrics:</a:t>
            </a:r>
            <a:r>
              <a:rPr lang="en-I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R², NSE remain stable → strong generalization with no overfitting.</a:t>
            </a:r>
            <a:br>
              <a:rPr lang="en-I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 &amp; Boosting Strategy:</a:t>
            </a:r>
            <a:r>
              <a:rPr lang="en-I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Leaf-wise boosting + tuned learning rate → smooth and fast convergence.</a:t>
            </a:r>
            <a:br>
              <a:rPr lang="en-I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Curve:</a:t>
            </a:r>
            <a:r>
              <a:rPr lang="en-I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Curves stay near the top-left → excellent class separation.</a:t>
            </a:r>
            <a:br>
              <a:rPr lang="en-I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≈ 1.00:</a:t>
            </a:r>
            <a:r>
              <a:rPr lang="en-I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near-perfect classification performance across yield classes.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27DEC2-B993-F0EE-E112-78B872140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322" y="354211"/>
            <a:ext cx="1212899" cy="12346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AAD4D4-46EA-0624-921E-0B73ED55E4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38" y="1778558"/>
            <a:ext cx="2874872" cy="11590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31E445-0E72-E8ED-B7F8-D9B296184C76}"/>
              </a:ext>
            </a:extLst>
          </p:cNvPr>
          <p:cNvSpPr txBox="1"/>
          <p:nvPr/>
        </p:nvSpPr>
        <p:spPr>
          <a:xfrm>
            <a:off x="677091" y="2614416"/>
            <a:ext cx="10747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Leaf-Wise</a:t>
            </a:r>
            <a:r>
              <a:rPr lang="en-IN" sz="800" dirty="0"/>
              <a:t> </a:t>
            </a:r>
            <a:r>
              <a:rPr lang="en-IN" sz="700" dirty="0"/>
              <a:t>Gradient Boosting</a:t>
            </a:r>
            <a:endParaRPr lang="en-IN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14817"/>
            <a:ext cx="5795928" cy="325331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293204" y="414940"/>
            <a:ext cx="2128842" cy="2662267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/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Findings:</a:t>
            </a:r>
          </a:p>
          <a:p>
            <a:pPr lvl="2"/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achieved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99.30% accuracy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= 0.9930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 = 2.711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outperforming all other models.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data + accumulated heat units significantly improved prediction stability.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generalizes well across yield classes with </a:t>
            </a:r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 ≈ 1.00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stable validation metrics.</a:t>
            </a:r>
          </a:p>
          <a:p>
            <a:pPr lvl="2"/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Solution</a:t>
            </a:r>
          </a:p>
          <a:p>
            <a:pPr lvl="2"/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simplified climate indicators for faster and more scalable prediction.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data imbalance through synthetic augmentation.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highly accurate results with low error compared to traditional models.</a:t>
            </a:r>
          </a:p>
          <a:p>
            <a:pPr lvl="2"/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</a:t>
            </a:r>
          </a:p>
          <a:p>
            <a:pPr lvl="2"/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an enhanced preprocessing pipeline with outlier removal and synthetic data generation.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</a:t>
            </a:r>
            <a:r>
              <a:rPr lang="en-US"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leaf-wise boosting for superior accuracy.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a climate-smart, efficient, and deployable cotton-yield prediction framework.</a:t>
            </a:r>
          </a:p>
          <a:p>
            <a:pPr lvl="2"/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-1033835" y="133044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2272"/>
              </a:lnSpc>
            </a:pPr>
            <a:r>
              <a:rPr lang="en-US" sz="1100" b="1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:894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C1BEA-8EB3-1535-3B05-4B18CD365D0F}"/>
              </a:ext>
            </a:extLst>
          </p:cNvPr>
          <p:cNvSpPr txBox="1"/>
          <p:nvPr/>
        </p:nvSpPr>
        <p:spPr>
          <a:xfrm>
            <a:off x="2841330" y="703900"/>
            <a:ext cx="2207941" cy="163121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 mainly on numerical agronomic inputs without satellite or UAV imagery.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may vary across regions with unseen soil or climate conditions.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data may not capture extremely rare real-world scenarios.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high-resolution remote sensing (UAV + satellite) for richer features.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to additional regions and cultivars for broader generalization.</a:t>
            </a:r>
            <a:b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farmer decision-support system with mobile/app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5791200" cy="3250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223610" y="559107"/>
            <a:ext cx="2550935" cy="2231380"/>
          </a:xfrm>
          <a:prstGeom prst="rect">
            <a:avLst/>
          </a:prstGeom>
          <a:noFill/>
          <a:ln w="12700"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A. Mitra, S.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Beegum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Fleisher, V. R. Reddy, W. Sun, C. Ray, D. Timlin, and A. Malakar, “Cotton yield prediction: A machine learning approach with field and synthetic data,” IEEE Access, vol. 12, pp. 101 273–101 288, 2024.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V. Karimi, L. Smith, and R. Brown, “Climate-driven yield prediction using temperature-derived indicators: A case study on cotton,” IEEE Journal of Selected Topics in Applied Earth Observations and Remote Sensing, vol. 16, pp. 12 345–12 356, 2023.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G. Ke, Q. Meng, T. Finley, T. Wang, W. Chen, W. Ma, Q. Ye, and T.-Y. Liu, “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highly efficient gradient boosting decision tree,” in Advances in Neural Information Processing Systems, vol. 30, 2017, pp. 3146–3154.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T. Haider, W. Ge, J. Li, S. U. Rehman, A. Imran, M. Sharaf, and S. M. Haider, “An ensemble machine learning framework for cotton crop yield prediction using weather parameters: A case study of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pakistan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IEEE Access, 2024.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N. T. Rao, S. Moturi, S. Mothe, R. L. S. Harsha, N. Shaik, S. V. S. M. Rohit, and D. V. Reddy, “Fake profile detection using machine learning,” in 2025 IEEE International Conference on Interdisciplinary Approaches in Technology and Management for Social Innovation (IATMSI), 2025, pp. 1–6.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M. S. Isik, M. F. Celik, and E. Erten, “Unveiling the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highresolution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cotton yield variations from low-resolution statistics: Lessons from a nationwide study in turkey,” in IGARSS 2024 – 2024 IEEE International Geoscience and Remote Sensing Symposium. Athens, Greece: IEEE, 2024.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S. Rizwana, P. M. Priya, K.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Suvarshitha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Gayathri, E. Ramakrishna, and M. Sireesha, “Enhancing wine quality prediction through machine learning techniques,” in 2025 IEEE International Conference on Interdisciplinary Approaches in Technology and Management for Social Innovation (IATMSI), 2025, pp. 1–6.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F. Devoto, D.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Ashourloo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Zhao, R. Jiang, R. Awale, M. Bell, T. Mclaren, S. Reynolds-Massey-Reed, L. Otto, M. Bange, W. Woodgate, S. Chapman, and A. Potgieter, “Quantifying cotton growth rate from multispectral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uav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imagery at plot scale,” in IGARSS 2025 – 2025 IEEE International Geoscience and Remote Sensing Symposium. Brisbane, Australia: IEEE, 2025.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A. Singh, P. Yadav, and R. Kumar, “Remote sensing and machine learning integration for crop yield estimation: Advances and challenges,” IEEE Access, vol. 10, pp. 106 789–106 801, 2022. </a:t>
            </a:r>
          </a:p>
        </p:txBody>
      </p:sp>
      <p:sp>
        <p:nvSpPr>
          <p:cNvPr id="139" name="Google Shape;139;p8"/>
          <p:cNvSpPr txBox="1"/>
          <p:nvPr/>
        </p:nvSpPr>
        <p:spPr>
          <a:xfrm>
            <a:off x="-834390" y="111832"/>
            <a:ext cx="28748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:894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C476FE-39C6-F840-DB21-C93FBDD0D75A}"/>
              </a:ext>
            </a:extLst>
          </p:cNvPr>
          <p:cNvSpPr txBox="1"/>
          <p:nvPr/>
        </p:nvSpPr>
        <p:spPr>
          <a:xfrm>
            <a:off x="2816226" y="517755"/>
            <a:ext cx="2869517" cy="247760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M. K. Patel, V. Rolland, L. M. Egan, W. N. Stiller, and W. C. Conaty, “Verticillium wilt monitoring in cotton using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uav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multispectral camera and ensemble machine learning approach,” in IGARSS 2025 – 2025 IEEE International Geoscience and Remote Sensing Symposium. Brisbane, Australia: IEEE, 2025.</a:t>
            </a:r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J. Liu, H. Wang, and Y. Chen, “Fusion of multi-modal datasets for agricultural yield prediction: Soil, climate, and satellite imagery,” in Proc. IEEE IGARSS, 2023, pp. 4572–4575. [12] Vahid and C. Smith, “Climate-driven yield prediction using temperature-derived indicators: A case study on cotton,” IEEE Journal of Selected Topics in Applied Earth Observations and Remote Sensing, vol. 16, pp. 12 345–12 356, 2023.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S. Rafi, M. S. Reddy, M. Sireesha, A. L. Niharika, S. Neelima, and K. Nikhitha, “Detecting sarcasm across headlines and text,” in 2025 IEEE International Conference on Interdisciplinary Approaches in Technology and Management for Social Innovation (IATMSI), 2025, pp. 1–6.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S. N. T. Rao, T. C. Dulla, V. K. Kolla, G. S. Kurakula, M. Suneetha, S. Moturi, and D. V. Reddy, “Deep learning-based tomato leaf disease identification: Enhancing classification with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alexnet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2025 IEEE International Conference on Interdisciplinary Approaches in Technology and Management for Social Innovation (IATMSI), 2025, pp. 1–6.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K. V. N. Reddy, Y. Narendra, M. A. N. Reddy, A. Ramu, D. V. Reddy, and S. Moturi, “Automated traffic sign recognition via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learning,” in 2025 IEEE International Conference on Interdisciplinary Approaches in Technology and Management for Social Innovation (IATMSI), 2025, pp. 1–6.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S. S. N. Rao, C. Sunitha, S. Najma, N. Nagalakshmi, T. G. R. Babu, and S. Moturi, “Advanced water quality prediction: Leveraging genetic optimization and machine learning,” in 2025 IEEE International Conference on Interdisciplinary Approaches in Technology and Management for Social Innovation (IATMSI), 2025, pp. 1–6.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L.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Breiman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“Random forests,” Machine Learning, vol. 45, no. 1, pp. 5–32, 2001.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K.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Lakshminadh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C. V.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Guptha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Sai, K. Rajesh, S. Moturi, Y. Neelima, and D. V. Reddy, “Advanced pest identification: An efficient deep learning approach using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vgg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networks,” in 2025 IEEE International Conference on Interdisciplinary Approaches in Technology and Management for Social Innovation (IATMSI), 2025, pp. 1–6. </a:t>
            </a:r>
          </a:p>
          <a:p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G. James, D. Witten, T. Hastie, and R. </a:t>
            </a:r>
            <a:r>
              <a:rPr lang="en-IN" sz="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Tibshirani</a:t>
            </a:r>
            <a:r>
              <a:rPr lang="en-IN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Introduction to Statistical Learning. Springer, 2013.</a:t>
            </a:r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2079</Words>
  <Application>Microsoft Office PowerPoint</Application>
  <PresentationFormat>Custom</PresentationFormat>
  <Paragraphs>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Times New Roman</vt:lpstr>
      <vt:lpstr>Calibri</vt:lpstr>
      <vt:lpstr>Wingdings</vt:lpstr>
      <vt:lpstr>IBM Plex Sans Condensed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Sarthak</dc:creator>
  <cp:lastModifiedBy>Satuluri Mohammad Sakhib</cp:lastModifiedBy>
  <cp:revision>7</cp:revision>
  <dcterms:created xsi:type="dcterms:W3CDTF">2006-08-16T00:00:00Z</dcterms:created>
  <dcterms:modified xsi:type="dcterms:W3CDTF">2025-11-15T18:04:58Z</dcterms:modified>
</cp:coreProperties>
</file>